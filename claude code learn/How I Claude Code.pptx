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Nanum Gothic Coding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NanumGothicCoding-regular.fnt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NanumGothicCoding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ad676da6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ad676da6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ad676da6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ad676da6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ad676da6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ad676da6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ad676da6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ad676da6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ad676da6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ad676da6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ad676da6a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ad676da6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ad676da6a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ad676da6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ad676da6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ad676da6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ad676da6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ad676da6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ad676da6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ad676da6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ad676da6a_26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ad676da6a_26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ad676da6a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ad676da6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ad676da6a_26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ad676da6a_26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ad676da6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ad676da6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ad676da6a_2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ad676da6a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react-grab.com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deus.build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humanlayer/advanced-context-engineering-for-coding-agents/blob/main/ace-fca.md" TargetMode="External"/><Relationship Id="rId4" Type="http://schemas.openxmlformats.org/officeDocument/2006/relationships/hyperlink" Target="https://github.com/monet-design/monet-registry" TargetMode="External"/><Relationship Id="rId5" Type="http://schemas.openxmlformats.org/officeDocument/2006/relationships/hyperlink" Target="https://docs.google.com/presentation/d/1xkQvKBfRaJtyuS5ltLrarCdjw-GDA-pzIyoz7R4wYtY/edit?usp=sharing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Vooster-AI/github-fetcher-mcp" TargetMode="External"/><Relationship Id="rId4" Type="http://schemas.openxmlformats.org/officeDocument/2006/relationships/hyperlink" Target="https://github.com/greatSumini/nanobanana-api-mcp" TargetMode="External"/><Relationship Id="rId5" Type="http://schemas.openxmlformats.org/officeDocument/2006/relationships/hyperlink" Target="https://github.com/greatSumini/sharp-mcp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41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900" y="1547866"/>
            <a:ext cx="3665925" cy="2047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cursormatfia_colo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0138" y="4462524"/>
            <a:ext cx="370825" cy="3708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7460950" y="4432386"/>
            <a:ext cx="141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Cursor맛피아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412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321900" y="2015075"/>
            <a:ext cx="82359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- </a:t>
            </a: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8년차 개발자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- 창업 / 외주사 운영 / 토스페이먼츠(1y)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- 바이브코딩 애호가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BDBBC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- AI 전문가 아님</a:t>
            </a:r>
            <a:endParaRPr b="1" sz="2000">
              <a:solidFill>
                <a:srgbClr val="EBDBBC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EBDBBC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- AI 리뷰어 아님 (다 안 써봄..)</a:t>
            </a:r>
            <a:endParaRPr b="1" sz="2000">
              <a:solidFill>
                <a:srgbClr val="EBDBBC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21900" y="408525"/>
            <a:ext cx="850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Who am i?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pic>
        <p:nvPicPr>
          <p:cNvPr id="63" name="Google Shape;63;p14" title="cursormatfia_col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2488" y="4245399"/>
            <a:ext cx="370825" cy="3708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7543300" y="4215261"/>
            <a:ext cx="141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Cursor맛피아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5813025" y="4215261"/>
            <a:ext cx="1300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Choi Sumin</a:t>
            </a:r>
            <a:endParaRPr sz="1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pic>
        <p:nvPicPr>
          <p:cNvPr id="66" name="Google Shape;66;p14" title="수민님.png"/>
          <p:cNvPicPr preferRelativeResize="0"/>
          <p:nvPr/>
        </p:nvPicPr>
        <p:blipFill rotWithShape="1">
          <a:blip r:embed="rId4">
            <a:alphaModFix/>
          </a:blip>
          <a:srcRect b="0" l="17300" r="0" t="0"/>
          <a:stretch/>
        </p:blipFill>
        <p:spPr>
          <a:xfrm>
            <a:off x="6528799" y="1744100"/>
            <a:ext cx="1716550" cy="241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412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/>
        </p:nvSpPr>
        <p:spPr>
          <a:xfrm>
            <a:off x="321900" y="408525"/>
            <a:ext cx="850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Purpose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321900" y="2015075"/>
            <a:ext cx="82359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✅ 공유 = 나는 이렇게 한다 (</a:t>
            </a: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기초)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✅</a:t>
            </a: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소통</a:t>
            </a:r>
            <a:endParaRPr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✅ 피드백 수집 = 이렇게 하는게 더 좋던데요?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41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/>
        </p:nvSpPr>
        <p:spPr>
          <a:xfrm>
            <a:off x="321900" y="408525"/>
            <a:ext cx="850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Purpose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21900" y="2015075"/>
            <a:ext cx="82359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✅</a:t>
            </a: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공유 = 나는 이렇게 한다</a:t>
            </a: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(기초)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✅</a:t>
            </a: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소통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✅ 피드백 수집 = 이렇게 하는게 더 좋던데요?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❌ 이게 유일한 정답이다.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❌ 자랑 = 나는 바이브코딩 전문가다</a:t>
            </a:r>
            <a:endParaRPr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      or 내 교육/영상이 최고다</a:t>
            </a:r>
            <a:endParaRPr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41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/>
        </p:nvSpPr>
        <p:spPr>
          <a:xfrm>
            <a:off x="321900" y="408525"/>
            <a:ext cx="850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Origin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321900" y="2015075"/>
            <a:ext cx="82359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Anthropic</a:t>
            </a:r>
            <a:endParaRPr b="1"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anum Gothic Coding"/>
              <a:buChar char="-"/>
            </a:pP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https://www.anthropic.com/engineering</a:t>
            </a:r>
            <a:endParaRPr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anum Gothic Coding"/>
              <a:buChar char="-"/>
            </a:pP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https://code.claude.com/docs</a:t>
            </a:r>
            <a:endParaRPr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YouTube - AI Engineer</a:t>
            </a:r>
            <a:endParaRPr b="1"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anum Gothic Coding"/>
              <a:buChar char="-"/>
            </a:pP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https://www.youtube.com/@aiDotEngineer</a:t>
            </a:r>
            <a:endParaRPr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41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/>
        </p:nvSpPr>
        <p:spPr>
          <a:xfrm>
            <a:off x="321900" y="2015075"/>
            <a:ext cx="8235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3. 토큰 제공량이 많음</a:t>
            </a:r>
            <a:endParaRPr b="1"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2. Claude 모델 성능이 좋음</a:t>
            </a:r>
            <a:endParaRPr b="1"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EBDBBC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321900" y="408525"/>
            <a:ext cx="850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Why Claude Code?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7625" y="449875"/>
            <a:ext cx="656199" cy="65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41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/>
        </p:nvSpPr>
        <p:spPr>
          <a:xfrm>
            <a:off x="321900" y="2015075"/>
            <a:ext cx="82359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3. 토큰 제공량이 많음</a:t>
            </a:r>
            <a:endParaRPr b="1"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2. Claude 모델 성능이 좋음</a:t>
            </a:r>
            <a:endParaRPr b="1"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BDBBC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1. Agent 최적화 기능이 잘 지원됨</a:t>
            </a:r>
            <a:endParaRPr b="1" sz="2000">
              <a:solidFill>
                <a:srgbClr val="EBDBBC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BDBBC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 - sub agent</a:t>
            </a:r>
            <a:endParaRPr b="1" sz="2000">
              <a:solidFill>
                <a:srgbClr val="EBDBBC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BDBBC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 - skills</a:t>
            </a:r>
            <a:endParaRPr b="1" sz="2000">
              <a:solidFill>
                <a:srgbClr val="EBDBBC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BDBBC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 - mcp-cli</a:t>
            </a:r>
            <a:endParaRPr b="1" sz="2000">
              <a:solidFill>
                <a:srgbClr val="EBDBBC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BDBBC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 - ...</a:t>
            </a:r>
            <a:endParaRPr b="1" sz="2000">
              <a:solidFill>
                <a:srgbClr val="EBDBBC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97" name="Google Shape;97;p19"/>
          <p:cNvSpPr txBox="1"/>
          <p:nvPr/>
        </p:nvSpPr>
        <p:spPr>
          <a:xfrm>
            <a:off x="321900" y="408525"/>
            <a:ext cx="850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Why Claude Code?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7625" y="449875"/>
            <a:ext cx="656199" cy="65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412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/>
        </p:nvSpPr>
        <p:spPr>
          <a:xfrm>
            <a:off x="321900" y="2015075"/>
            <a:ext cx="82359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단점이 그닥 없습니다.</a:t>
            </a:r>
            <a:endParaRPr b="1"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1. 저는 </a:t>
            </a:r>
            <a:r>
              <a:rPr b="1"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터미널이 불편</a:t>
            </a: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해요 👉 </a:t>
            </a:r>
            <a:r>
              <a:rPr b="1" lang="en" sz="2000">
                <a:solidFill>
                  <a:srgbClr val="EBDBBC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Extension</a:t>
            </a: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쓰세요</a:t>
            </a:r>
            <a:endParaRPr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2. 저는 </a:t>
            </a:r>
            <a:r>
              <a:rPr b="1"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design editor</a:t>
            </a: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가 필요해요 👉 </a:t>
            </a:r>
            <a:r>
              <a:rPr b="1" lang="en" sz="2000">
                <a:solidFill>
                  <a:srgbClr val="EBDBBC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react-grab</a:t>
            </a: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쓰세요</a:t>
            </a:r>
            <a:endParaRPr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  </a:t>
            </a:r>
            <a:r>
              <a:rPr lang="en" sz="2000" u="sng">
                <a:solidFill>
                  <a:schemeClr val="hlink"/>
                </a:solidFill>
                <a:latin typeface="Nanum Gothic Coding"/>
                <a:ea typeface="Nanum Gothic Coding"/>
                <a:cs typeface="Nanum Gothic Coding"/>
                <a:sym typeface="Nanum Gothic Coding"/>
                <a:hlinkClick r:id="rId3"/>
              </a:rPr>
              <a:t>https://www.react-grab.com/</a:t>
            </a:r>
            <a:endParaRPr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3. Antigravity </a:t>
            </a:r>
            <a:r>
              <a:rPr b="1"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브라우저 자동화</a:t>
            </a: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가 좋아요 👉 </a:t>
            </a:r>
            <a:r>
              <a:rPr b="1" lang="en" sz="2000">
                <a:solidFill>
                  <a:srgbClr val="EBDBBC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E2E테스트</a:t>
            </a: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를 쓰세요</a:t>
            </a:r>
            <a:endParaRPr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4. 저는 </a:t>
            </a:r>
            <a:r>
              <a:rPr b="1"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다른 모델</a:t>
            </a: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도 쓰고싶어요 👉 이건 어쩔 수 없긴함</a:t>
            </a:r>
            <a:endParaRPr sz="2000">
              <a:solidFill>
                <a:srgbClr val="EBDBBC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04" name="Google Shape;104;p20"/>
          <p:cNvSpPr txBox="1"/>
          <p:nvPr/>
        </p:nvSpPr>
        <p:spPr>
          <a:xfrm>
            <a:off x="321900" y="408525"/>
            <a:ext cx="850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Use Claude Code!</a:t>
            </a:r>
            <a:endParaRPr sz="20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41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/>
        </p:nvSpPr>
        <p:spPr>
          <a:xfrm>
            <a:off x="321900" y="408525"/>
            <a:ext cx="8500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How to vibe well?</a:t>
            </a:r>
            <a:endParaRPr sz="3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= How to manage context?</a:t>
            </a:r>
            <a:endParaRPr sz="3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10" name="Google Shape;110;p21"/>
          <p:cNvSpPr txBox="1"/>
          <p:nvPr/>
        </p:nvSpPr>
        <p:spPr>
          <a:xfrm>
            <a:off x="321900" y="2015075"/>
            <a:ext cx="8235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Common Problems</a:t>
            </a:r>
            <a:endParaRPr b="1"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1. </a:t>
            </a:r>
            <a:r>
              <a:rPr b="1" lang="en" sz="2000">
                <a:solidFill>
                  <a:srgbClr val="EBDBBC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size(20k)</a:t>
            </a: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가 모자람</a:t>
            </a:r>
            <a:endParaRPr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2. 지시가 </a:t>
            </a:r>
            <a:r>
              <a:rPr b="1" lang="en" sz="2000">
                <a:solidFill>
                  <a:srgbClr val="EBDBBC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누락됨</a:t>
            </a: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= 하지 않거나 대충함</a:t>
            </a:r>
            <a:endParaRPr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41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/>
        </p:nvSpPr>
        <p:spPr>
          <a:xfrm>
            <a:off x="321900" y="408525"/>
            <a:ext cx="8500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How to vibe well?</a:t>
            </a:r>
            <a:endParaRPr sz="3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= How to manage context?</a:t>
            </a:r>
            <a:endParaRPr sz="3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16" name="Google Shape;116;p22"/>
          <p:cNvSpPr txBox="1"/>
          <p:nvPr/>
        </p:nvSpPr>
        <p:spPr>
          <a:xfrm>
            <a:off x="321900" y="2015075"/>
            <a:ext cx="82359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Common Problems</a:t>
            </a:r>
            <a:endParaRPr b="1"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1. </a:t>
            </a:r>
            <a:r>
              <a:rPr b="1" lang="en" sz="2000">
                <a:solidFill>
                  <a:srgbClr val="EBDBBC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size(20k)</a:t>
            </a: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가 모자람</a:t>
            </a:r>
            <a:endParaRPr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2. 지시가 </a:t>
            </a:r>
            <a:r>
              <a:rPr b="1" lang="en" sz="2000">
                <a:solidFill>
                  <a:srgbClr val="EBDBBC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누락됨</a:t>
            </a: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= 하지 않거나 대충함</a:t>
            </a:r>
            <a:endParaRPr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👉 생각할거리가 너무 많기 때문. like 한호흡챌린지</a:t>
            </a:r>
            <a:endParaRPr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41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/>
        </p:nvSpPr>
        <p:spPr>
          <a:xfrm>
            <a:off x="321900" y="2015075"/>
            <a:ext cx="82359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Anthropic을 따라하면 됨.</a:t>
            </a:r>
            <a:endParaRPr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1. plan mode</a:t>
            </a: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👉 Phase를 나누고, markdown으로 소통한다.</a:t>
            </a:r>
            <a:endParaRPr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2. mcp-cli, skill</a:t>
            </a: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👉 불필요한 정보 걷어낸다.</a:t>
            </a:r>
            <a:endParaRPr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3. mcp__ide__getDiagnostics</a:t>
            </a: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👉 빠르게 자체 검증시킨다.</a:t>
            </a:r>
            <a:endParaRPr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22" name="Google Shape;122;p23"/>
          <p:cNvSpPr txBox="1"/>
          <p:nvPr/>
        </p:nvSpPr>
        <p:spPr>
          <a:xfrm>
            <a:off x="321900" y="408525"/>
            <a:ext cx="850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How to optimize Context?</a:t>
            </a:r>
            <a:endParaRPr sz="3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412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/>
        </p:nvSpPr>
        <p:spPr>
          <a:xfrm>
            <a:off x="321900" y="2015075"/>
            <a:ext cx="8235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DEUS</a:t>
            </a:r>
            <a:endParaRPr b="1"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chemeClr val="hlink"/>
                </a:solidFill>
                <a:latin typeface="Nanum Gothic Coding"/>
                <a:ea typeface="Nanum Gothic Coding"/>
                <a:cs typeface="Nanum Gothic Coding"/>
                <a:sym typeface="Nanum Gothic Coding"/>
                <a:hlinkClick r:id="rId3"/>
              </a:rPr>
              <a:t>https://www.deus.build/</a:t>
            </a:r>
            <a:endParaRPr b="1"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28" name="Google Shape;128;p24"/>
          <p:cNvSpPr txBox="1"/>
          <p:nvPr/>
        </p:nvSpPr>
        <p:spPr>
          <a:xfrm>
            <a:off x="321900" y="408525"/>
            <a:ext cx="850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지금 만드는 프로젝트</a:t>
            </a:r>
            <a:endParaRPr sz="3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412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/>
        </p:nvSpPr>
        <p:spPr>
          <a:xfrm>
            <a:off x="321900" y="2015075"/>
            <a:ext cx="82359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1. </a:t>
            </a:r>
            <a:r>
              <a:rPr b="1"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Phase별 context 분리</a:t>
            </a:r>
            <a:endParaRPr b="1"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hlink"/>
                </a:solidFill>
                <a:latin typeface="Nanum Gothic Coding"/>
                <a:ea typeface="Nanum Gothic Coding"/>
                <a:cs typeface="Nanum Gothic Coding"/>
                <a:sym typeface="Nanum Gothic Coding"/>
                <a:hlinkClick r:id="rId3"/>
              </a:rPr>
              <a:t>https://github.com/humanlayer/advanced-context-engineering-for-coding-agents/blob/main/ace-fca.md</a:t>
            </a:r>
            <a:endParaRPr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2. Monet 코드베이스</a:t>
            </a:r>
            <a:endParaRPr b="1"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hlink"/>
                </a:solidFill>
                <a:latin typeface="Nanum Gothic Coding"/>
                <a:ea typeface="Nanum Gothic Coding"/>
                <a:cs typeface="Nanum Gothic Coding"/>
                <a:sym typeface="Nanum Gothic Coding"/>
                <a:hlinkClick r:id="rId4"/>
              </a:rPr>
              <a:t>https://github.com/monet-design/monet-registry</a:t>
            </a:r>
            <a:endParaRPr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3. Pipeline 발표자료</a:t>
            </a:r>
            <a:endParaRPr b="1"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hlink"/>
                </a:solidFill>
                <a:latin typeface="Nanum Gothic Coding"/>
                <a:ea typeface="Nanum Gothic Coding"/>
                <a:cs typeface="Nanum Gothic Coding"/>
                <a:sym typeface="Nanum Gothic Coding"/>
                <a:hlinkClick r:id="rId5"/>
              </a:rPr>
              <a:t>https://docs.google.com/presentation/d/1xkQvKBfRaJtyuS5ltLrarCdjw-GDA-pzIyoz7R4wYtY/edit?usp=sharing</a:t>
            </a:r>
            <a:endParaRPr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321900" y="408525"/>
            <a:ext cx="850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참고 링크들</a:t>
            </a:r>
            <a:endParaRPr sz="3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41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/>
        </p:nvSpPr>
        <p:spPr>
          <a:xfrm>
            <a:off x="321900" y="2015075"/>
            <a:ext cx="82359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BDBBC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1. GitHub Fetcher MCP</a:t>
            </a:r>
            <a:endParaRPr b="1" sz="2000">
              <a:solidFill>
                <a:srgbClr val="EBDBBC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chemeClr val="hlink"/>
                </a:solidFill>
                <a:latin typeface="Nanum Gothic Coding"/>
                <a:ea typeface="Nanum Gothic Coding"/>
                <a:cs typeface="Nanum Gothic Coding"/>
                <a:sym typeface="Nanum Gothic Coding"/>
                <a:hlinkClick r:id="rId3"/>
              </a:rPr>
              <a:t>https://github.com/Vooster-AI/github-fetcher-mcp</a:t>
            </a:r>
            <a:endParaRPr b="1"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BDBBC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2. Nanobanana API MCP</a:t>
            </a:r>
            <a:endParaRPr b="1" sz="2000">
              <a:solidFill>
                <a:srgbClr val="EBDBBC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chemeClr val="hlink"/>
                </a:solidFill>
                <a:latin typeface="Nanum Gothic Coding"/>
                <a:ea typeface="Nanum Gothic Coding"/>
                <a:cs typeface="Nanum Gothic Coding"/>
                <a:sym typeface="Nanum Gothic Coding"/>
                <a:hlinkClick r:id="rId4"/>
              </a:rPr>
              <a:t>https://github.com/greatSumini/nanobanana-api-mcp</a:t>
            </a:r>
            <a:endParaRPr b="1"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BDBBC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3. Sharp MCP</a:t>
            </a:r>
            <a:endParaRPr b="1" sz="2000">
              <a:solidFill>
                <a:srgbClr val="EBDBBC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chemeClr val="hlink"/>
                </a:solidFill>
                <a:latin typeface="Nanum Gothic Coding"/>
                <a:ea typeface="Nanum Gothic Coding"/>
                <a:cs typeface="Nanum Gothic Coding"/>
                <a:sym typeface="Nanum Gothic Coding"/>
                <a:hlinkClick r:id="rId5"/>
              </a:rPr>
              <a:t>https://github.com/greatSumini/sharp-mcp</a:t>
            </a:r>
            <a:endParaRPr b="1"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40" name="Google Shape;140;p26"/>
          <p:cNvSpPr txBox="1"/>
          <p:nvPr/>
        </p:nvSpPr>
        <p:spPr>
          <a:xfrm>
            <a:off x="321900" y="408525"/>
            <a:ext cx="850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제가 만든 MCP</a:t>
            </a:r>
            <a:endParaRPr sz="3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412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/>
        </p:nvSpPr>
        <p:spPr>
          <a:xfrm>
            <a:off x="321900" y="2015075"/>
            <a:ext cx="82359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Sub Agent</a:t>
            </a:r>
            <a:endParaRPr b="1"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메인 에이전트와 협업하는 </a:t>
            </a:r>
            <a:r>
              <a:rPr b="1" lang="en" sz="2000">
                <a:solidFill>
                  <a:srgbClr val="EBDBBC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하위 에이전트</a:t>
            </a: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를 만드는 기능</a:t>
            </a:r>
            <a:endParaRPr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특정 작업을 </a:t>
            </a:r>
            <a:r>
              <a:rPr b="1" lang="en" sz="2000">
                <a:solidFill>
                  <a:srgbClr val="EBDBBC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하청</a:t>
            </a: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준다.</a:t>
            </a:r>
            <a:endParaRPr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Skills</a:t>
            </a:r>
            <a:endParaRPr b="1"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에이전트에, 특정 작업에 대한 지침(프롬프트)을</a:t>
            </a:r>
            <a:endParaRPr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BDBBC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필요할때만</a:t>
            </a:r>
            <a:r>
              <a:rPr lang="en" sz="20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 불러오는 기능</a:t>
            </a:r>
            <a:endParaRPr sz="20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46" name="Google Shape;146;p27"/>
          <p:cNvSpPr txBox="1"/>
          <p:nvPr/>
        </p:nvSpPr>
        <p:spPr>
          <a:xfrm>
            <a:off x="321900" y="408525"/>
            <a:ext cx="850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Sub Agent vs Skills</a:t>
            </a:r>
            <a:endParaRPr sz="3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41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/>
        </p:nvSpPr>
        <p:spPr>
          <a:xfrm>
            <a:off x="321900" y="408525"/>
            <a:ext cx="850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Sub Agent vs Skills (</a:t>
            </a:r>
            <a:r>
              <a:rPr lang="en" sz="3600">
                <a:solidFill>
                  <a:srgbClr val="FFFFFF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디자인의 경우)</a:t>
            </a:r>
            <a:endParaRPr sz="3600">
              <a:solidFill>
                <a:srgbClr val="FFFFFF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52" name="Google Shape;152;p28"/>
          <p:cNvSpPr/>
          <p:nvPr/>
        </p:nvSpPr>
        <p:spPr>
          <a:xfrm>
            <a:off x="476525" y="1341125"/>
            <a:ext cx="1493400" cy="340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anum Gothic Coding"/>
                <a:ea typeface="Nanum Gothic Coding"/>
                <a:cs typeface="Nanum Gothic Coding"/>
                <a:sym typeface="Nanum Gothic Coding"/>
              </a:rPr>
              <a:t>Main 대화세션</a:t>
            </a:r>
            <a:endParaRPr b="1"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anum Gothic Coding"/>
                <a:ea typeface="Nanum Gothic Coding"/>
                <a:cs typeface="Nanum Gothic Coding"/>
                <a:sym typeface="Nanum Gothic Coding"/>
              </a:rPr>
              <a:t>Prompt</a:t>
            </a:r>
            <a:endParaRPr b="1"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anum Gothic Coding"/>
                <a:ea typeface="Nanum Gothic Coding"/>
                <a:cs typeface="Nanum Gothic Coding"/>
                <a:sym typeface="Nanum Gothic Coding"/>
              </a:rPr>
              <a:t>"</a:t>
            </a:r>
            <a:r>
              <a:rPr lang="en">
                <a:latin typeface="Nanum Gothic Coding"/>
                <a:ea typeface="Nanum Gothic Coding"/>
                <a:cs typeface="Nanum Gothic Coding"/>
                <a:sym typeface="Nanum Gothic Coding"/>
              </a:rPr>
              <a:t>로그인페이지 구현해"</a:t>
            </a:r>
            <a:endParaRPr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53" name="Google Shape;153;p28"/>
          <p:cNvSpPr/>
          <p:nvPr/>
        </p:nvSpPr>
        <p:spPr>
          <a:xfrm>
            <a:off x="638650" y="2868975"/>
            <a:ext cx="1213500" cy="3684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anum Gothic Coding"/>
                <a:ea typeface="Nanum Gothic Coding"/>
                <a:cs typeface="Nanum Gothic Coding"/>
                <a:sym typeface="Nanum Gothic Coding"/>
              </a:rPr>
              <a:t>파일 탐색</a:t>
            </a:r>
            <a:endParaRPr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54" name="Google Shape;154;p28"/>
          <p:cNvSpPr/>
          <p:nvPr/>
        </p:nvSpPr>
        <p:spPr>
          <a:xfrm>
            <a:off x="638650" y="3330875"/>
            <a:ext cx="1213500" cy="3684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anum Gothic Coding"/>
                <a:ea typeface="Nanum Gothic Coding"/>
                <a:cs typeface="Nanum Gothic Coding"/>
                <a:sym typeface="Nanum Gothic Coding"/>
              </a:rPr>
              <a:t>설계</a:t>
            </a:r>
            <a:endParaRPr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55" name="Google Shape;155;p28"/>
          <p:cNvSpPr/>
          <p:nvPr/>
        </p:nvSpPr>
        <p:spPr>
          <a:xfrm>
            <a:off x="616475" y="3758375"/>
            <a:ext cx="1213500" cy="3684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anum Gothic Coding"/>
                <a:ea typeface="Nanum Gothic Coding"/>
                <a:cs typeface="Nanum Gothic Coding"/>
                <a:sym typeface="Nanum Gothic Coding"/>
              </a:rPr>
              <a:t>디자인 구현</a:t>
            </a:r>
            <a:endParaRPr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56" name="Google Shape;156;p28"/>
          <p:cNvSpPr/>
          <p:nvPr/>
        </p:nvSpPr>
        <p:spPr>
          <a:xfrm>
            <a:off x="4863600" y="1341125"/>
            <a:ext cx="2244900" cy="340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anum Gothic Coding"/>
                <a:ea typeface="Nanum Gothic Coding"/>
                <a:cs typeface="Nanum Gothic Coding"/>
                <a:sym typeface="Nanum Gothic Coding"/>
              </a:rPr>
              <a:t>Main 대화세션</a:t>
            </a:r>
            <a:endParaRPr b="1"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anum Gothic Coding"/>
                <a:ea typeface="Nanum Gothic Coding"/>
                <a:cs typeface="Nanum Gothic Coding"/>
                <a:sym typeface="Nanum Gothic Coding"/>
              </a:rPr>
              <a:t>Prompt</a:t>
            </a:r>
            <a:endParaRPr b="1"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anum Gothic Coding"/>
                <a:ea typeface="Nanum Gothic Coding"/>
                <a:cs typeface="Nanum Gothic Coding"/>
                <a:sym typeface="Nanum Gothic Coding"/>
              </a:rPr>
              <a:t>"로그인페이지 구현해</a:t>
            </a:r>
            <a:endParaRPr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Font typeface="Nanum Gothic Coding"/>
              <a:buChar char="+"/>
            </a:pPr>
            <a:r>
              <a:rPr lang="en">
                <a:latin typeface="Nanum Gothic Coding"/>
                <a:ea typeface="Nanum Gothic Coding"/>
                <a:cs typeface="Nanum Gothic Coding"/>
                <a:sym typeface="Nanum Gothic Coding"/>
              </a:rPr>
              <a:t>근데 디자인은 이렇게 저렇게 해</a:t>
            </a:r>
            <a:r>
              <a:rPr lang="en">
                <a:latin typeface="Nanum Gothic Coding"/>
                <a:ea typeface="Nanum Gothic Coding"/>
                <a:cs typeface="Nanum Gothic Coding"/>
                <a:sym typeface="Nanum Gothic Coding"/>
              </a:rPr>
              <a:t>"</a:t>
            </a:r>
            <a:endParaRPr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57" name="Google Shape;157;p28"/>
          <p:cNvSpPr/>
          <p:nvPr/>
        </p:nvSpPr>
        <p:spPr>
          <a:xfrm>
            <a:off x="5390375" y="3207925"/>
            <a:ext cx="1213500" cy="3684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anum Gothic Coding"/>
                <a:ea typeface="Nanum Gothic Coding"/>
                <a:cs typeface="Nanum Gothic Coding"/>
                <a:sym typeface="Nanum Gothic Coding"/>
              </a:rPr>
              <a:t>파일 탐색</a:t>
            </a:r>
            <a:endParaRPr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58" name="Google Shape;158;p28"/>
          <p:cNvSpPr/>
          <p:nvPr/>
        </p:nvSpPr>
        <p:spPr>
          <a:xfrm>
            <a:off x="5390375" y="3669825"/>
            <a:ext cx="1213500" cy="3684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anum Gothic Coding"/>
                <a:ea typeface="Nanum Gothic Coding"/>
                <a:cs typeface="Nanum Gothic Coding"/>
                <a:sym typeface="Nanum Gothic Coding"/>
              </a:rPr>
              <a:t>설계</a:t>
            </a:r>
            <a:endParaRPr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59" name="Google Shape;159;p28"/>
          <p:cNvSpPr/>
          <p:nvPr/>
        </p:nvSpPr>
        <p:spPr>
          <a:xfrm>
            <a:off x="5368200" y="4097325"/>
            <a:ext cx="1213500" cy="3684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anum Gothic Coding"/>
                <a:ea typeface="Nanum Gothic Coding"/>
                <a:cs typeface="Nanum Gothic Coding"/>
                <a:sym typeface="Nanum Gothic Coding"/>
              </a:rPr>
              <a:t>구현</a:t>
            </a:r>
            <a:endParaRPr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60" name="Google Shape;160;p28"/>
          <p:cNvSpPr/>
          <p:nvPr/>
        </p:nvSpPr>
        <p:spPr>
          <a:xfrm>
            <a:off x="2132200" y="1930650"/>
            <a:ext cx="1493400" cy="2461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anum Gothic Coding"/>
                <a:ea typeface="Nanum Gothic Coding"/>
                <a:cs typeface="Nanum Gothic Coding"/>
                <a:sym typeface="Nanum Gothic Coding"/>
              </a:rPr>
              <a:t>Sub</a:t>
            </a:r>
            <a:r>
              <a:rPr b="1" lang="en">
                <a:latin typeface="Nanum Gothic Coding"/>
                <a:ea typeface="Nanum Gothic Coding"/>
                <a:cs typeface="Nanum Gothic Coding"/>
                <a:sym typeface="Nanum Gothic Coding"/>
              </a:rPr>
              <a:t> 대화세션</a:t>
            </a:r>
            <a:endParaRPr b="1"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anum Gothic Coding"/>
                <a:ea typeface="Nanum Gothic Coding"/>
                <a:cs typeface="Nanum Gothic Coding"/>
                <a:sym typeface="Nanum Gothic Coding"/>
              </a:rPr>
              <a:t>Prompt</a:t>
            </a:r>
            <a:endParaRPr b="1"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anum Gothic Coding"/>
                <a:ea typeface="Nanum Gothic Coding"/>
                <a:cs typeface="Nanum Gothic Coding"/>
                <a:sym typeface="Nanum Gothic Coding"/>
              </a:rPr>
              <a:t>"로그인페이지 </a:t>
            </a:r>
            <a:r>
              <a:rPr lang="en">
                <a:latin typeface="Nanum Gothic Coding"/>
                <a:ea typeface="Nanum Gothic Coding"/>
                <a:cs typeface="Nanum Gothic Coding"/>
                <a:sym typeface="Nanum Gothic Coding"/>
              </a:rPr>
              <a:t>디자인 </a:t>
            </a:r>
            <a:r>
              <a:rPr lang="en">
                <a:latin typeface="Nanum Gothic Coding"/>
                <a:ea typeface="Nanum Gothic Coding"/>
                <a:cs typeface="Nanum Gothic Coding"/>
                <a:sym typeface="Nanum Gothic Coding"/>
              </a:rPr>
              <a:t>구현해"</a:t>
            </a:r>
            <a:endParaRPr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161" name="Google Shape;161;p28"/>
          <p:cNvSpPr/>
          <p:nvPr/>
        </p:nvSpPr>
        <p:spPr>
          <a:xfrm>
            <a:off x="638650" y="4185875"/>
            <a:ext cx="1213500" cy="3684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anum Gothic Coding"/>
                <a:ea typeface="Nanum Gothic Coding"/>
                <a:cs typeface="Nanum Gothic Coding"/>
                <a:sym typeface="Nanum Gothic Coding"/>
              </a:rPr>
              <a:t>구현</a:t>
            </a:r>
            <a:endParaRPr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cxnSp>
        <p:nvCxnSpPr>
          <p:cNvPr id="162" name="Google Shape;162;p28"/>
          <p:cNvCxnSpPr>
            <a:stCxn id="155" idx="3"/>
          </p:cNvCxnSpPr>
          <p:nvPr/>
        </p:nvCxnSpPr>
        <p:spPr>
          <a:xfrm flipH="1" rot="10800000">
            <a:off x="1829975" y="2834675"/>
            <a:ext cx="542700" cy="110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