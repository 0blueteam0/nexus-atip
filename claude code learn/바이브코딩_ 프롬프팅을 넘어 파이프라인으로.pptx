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6858000" cy="9144000"/>
  <p:embeddedFontLst>
    <p:embeddedFont>
      <p:font typeface="Nanum Gothic Coding"/>
      <p:regular r:id="rId43"/>
      <p:bold r:id="rId44"/>
    </p:embeddedFont>
    <p:embeddedFont>
      <p:font typeface="Nanum Gothic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NanumGothicCoding-bold.fntdata"/><Relationship Id="rId21" Type="http://schemas.openxmlformats.org/officeDocument/2006/relationships/slide" Target="slides/slide16.xml"/><Relationship Id="rId43" Type="http://schemas.openxmlformats.org/officeDocument/2006/relationships/font" Target="fonts/NanumGothicCoding-regular.fntdata"/><Relationship Id="rId24" Type="http://schemas.openxmlformats.org/officeDocument/2006/relationships/slide" Target="slides/slide19.xml"/><Relationship Id="rId46" Type="http://schemas.openxmlformats.org/officeDocument/2006/relationships/font" Target="fonts/NanumGothic-bold.fntdata"/><Relationship Id="rId23" Type="http://schemas.openxmlformats.org/officeDocument/2006/relationships/slide" Target="slides/slide18.xml"/><Relationship Id="rId45" Type="http://schemas.openxmlformats.org/officeDocument/2006/relationships/font" Target="fonts/NanumGothic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6109c4c5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6109c4c5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6109c4c51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6109c4c5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6109c4c51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6109c4c51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f53b6079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f53b6079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f53b6079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f53b6079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f53b60790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f53b6079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f62e8c10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f62e8c10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f62e8c10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f62e8c10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f62e8c10b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f62e8c10b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f62e8c10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f62e8c10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f62e8c10b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f62e8c10b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6109c4c51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6109c4c51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f53b60790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f53b60790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f53b60790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f53b60790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f62e8c10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f62e8c10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f62e8c10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f62e8c10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f62e8c10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af62e8c10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f53b60790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f53b60790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f62e8c10b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af62e8c10b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f53b60790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f53b60790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f53b60790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af53b60790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f53b60790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af53b60790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f53b60790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af53b60790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af53b60790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af53b60790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f53b60790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af53b60790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af53b60790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af53b60790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af53b60790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af53b60790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f53b60790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af53b60790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f53b60790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af53b60790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f53b60790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af53b60790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a6e5c778e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a6e5c778e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af53b60790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af53b60790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af53b60790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af53b60790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af53b60790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af53b60790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af53b60790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af53b60790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a6e5c778e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a6e5c778e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af53b60790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af53b60790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21900" y="408525"/>
            <a:ext cx="8500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VibeCoding:</a:t>
            </a:r>
            <a:endParaRPr b="1" sz="3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프롬프팅을 넘어</a:t>
            </a:r>
            <a:endParaRPr sz="3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파이프라인</a:t>
            </a: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으로</a:t>
            </a:r>
            <a:endParaRPr sz="3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cursormatfia_col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7413" y="2815399"/>
            <a:ext cx="370825" cy="37082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4728225" y="2785261"/>
            <a:ext cx="141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Cursor맛피아</a:t>
            </a:r>
            <a:endParaRPr sz="16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2997950" y="2785261"/>
            <a:ext cx="1300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Choi Sumin</a:t>
            </a:r>
            <a:endParaRPr sz="16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pic>
        <p:nvPicPr>
          <p:cNvPr id="62" name="Google Shape;62;p14" title="수민님.png"/>
          <p:cNvPicPr preferRelativeResize="0"/>
          <p:nvPr/>
        </p:nvPicPr>
        <p:blipFill rotWithShape="1">
          <a:blip r:embed="rId4">
            <a:alphaModFix/>
          </a:blip>
          <a:srcRect b="0" l="17300" r="0" t="0"/>
          <a:stretch/>
        </p:blipFill>
        <p:spPr>
          <a:xfrm>
            <a:off x="3713724" y="314100"/>
            <a:ext cx="1716550" cy="241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4512" y="4283175"/>
            <a:ext cx="370825" cy="37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36387" y="4283175"/>
            <a:ext cx="927000" cy="3708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2011499" y="3805100"/>
            <a:ext cx="5121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VibeCoding startup founder, creator, consultant.</a:t>
            </a:r>
            <a:endParaRPr sz="16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80600" y="4283175"/>
            <a:ext cx="1817079" cy="37082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2011499" y="3186211"/>
            <a:ext cx="5121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lead@awesome.dev</a:t>
            </a:r>
            <a:endParaRPr sz="16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321900" y="408525"/>
            <a:ext cx="8500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"/>
                <a:ea typeface="Nanum Gothic"/>
                <a:cs typeface="Nanum Gothic"/>
                <a:sym typeface="Nanum Gothic"/>
              </a:rPr>
              <a:t>바이브코딩은 쉽습니다</a:t>
            </a: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.</a:t>
            </a:r>
            <a:endParaRPr sz="3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(for small problems)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pic>
        <p:nvPicPr>
          <p:cNvPr id="73" name="Google Shape;73;p15" title="Screenshot 2025-12-11 at 1.31.5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913" y="1599500"/>
            <a:ext cx="3844000" cy="291127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537963" y="4546975"/>
            <a:ext cx="384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Prompt: 3d 비행기 게임 만들어줘</a:t>
            </a:r>
            <a:endParaRPr sz="1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grpSp>
        <p:nvGrpSpPr>
          <p:cNvPr id="75" name="Google Shape;75;p15"/>
          <p:cNvGrpSpPr/>
          <p:nvPr/>
        </p:nvGrpSpPr>
        <p:grpSpPr>
          <a:xfrm>
            <a:off x="4878213" y="1579300"/>
            <a:ext cx="3611826" cy="2951674"/>
            <a:chOff x="4662200" y="1471225"/>
            <a:chExt cx="3611826" cy="2951674"/>
          </a:xfrm>
        </p:grpSpPr>
        <p:pic>
          <p:nvPicPr>
            <p:cNvPr id="76" name="Google Shape;76;p15" title="Screenshot 2025-12-11 at 1.35.13 AM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662200" y="1471225"/>
              <a:ext cx="3173423" cy="23417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15" title="Screenshot 2025-12-11 at 1.35.40 AM.png"/>
            <p:cNvPicPr preferRelativeResize="0"/>
            <p:nvPr/>
          </p:nvPicPr>
          <p:blipFill rotWithShape="1">
            <a:blip r:embed="rId5">
              <a:alphaModFix/>
            </a:blip>
            <a:srcRect b="5554" l="0" r="0" t="2491"/>
            <a:stretch/>
          </p:blipFill>
          <p:spPr>
            <a:xfrm>
              <a:off x="5100600" y="2696125"/>
              <a:ext cx="3173426" cy="17267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8" name="Google Shape;78;p15"/>
          <p:cNvSpPr txBox="1"/>
          <p:nvPr/>
        </p:nvSpPr>
        <p:spPr>
          <a:xfrm>
            <a:off x="4762175" y="4546975"/>
            <a:ext cx="384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Prompt: </a:t>
            </a:r>
            <a:r>
              <a:rPr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모두콘 홈페이지 클론코딩해줘</a:t>
            </a:r>
            <a:endParaRPr sz="1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/>
        </p:nvSpPr>
        <p:spPr>
          <a:xfrm>
            <a:off x="321900" y="408525"/>
            <a:ext cx="8500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많은 경우에서,</a:t>
            </a:r>
            <a:endParaRPr sz="3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한번의 프롬프트로</a:t>
            </a: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작업이 완료됩니다.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2650038" y="2238050"/>
            <a:ext cx="384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Bug fix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2650038" y="2724500"/>
            <a:ext cx="384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Tiny UI change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2650038" y="3210950"/>
            <a:ext cx="384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Fix build errors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2650038" y="3697400"/>
            <a:ext cx="384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Write unit tests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2650038" y="4208425"/>
            <a:ext cx="384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...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/>
        </p:nvSpPr>
        <p:spPr>
          <a:xfrm>
            <a:off x="1336225" y="4021525"/>
            <a:ext cx="3192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Letting AI do design and trying to</a:t>
            </a:r>
            <a:endParaRPr sz="1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make sense of it </a:t>
            </a:r>
            <a:r>
              <a:rPr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is too HARD</a:t>
            </a:r>
            <a:endParaRPr sz="1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321900" y="408525"/>
            <a:ext cx="8500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하지만,</a:t>
            </a:r>
            <a:endParaRPr sz="3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생산성 증가 효과는</a:t>
            </a:r>
            <a:endParaRPr sz="3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10-20%</a:t>
            </a: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에 그칩니다.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pic>
        <p:nvPicPr>
          <p:cNvPr id="95" name="Google Shape;95;p17" title="drawchar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0150" y="1920825"/>
            <a:ext cx="4215824" cy="30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1336225" y="3318925"/>
            <a:ext cx="3192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AI can automate </a:t>
            </a:r>
            <a:r>
              <a:rPr b="1"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implementation</a:t>
            </a:r>
            <a:endParaRPr b="1" sz="1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— and nothing more.</a:t>
            </a:r>
            <a:endParaRPr sz="1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4971250" y="3017500"/>
            <a:ext cx="86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Clarify</a:t>
            </a:r>
            <a:endParaRPr b="1" sz="1200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(25%)</a:t>
            </a:r>
            <a:endParaRPr b="1" sz="1200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5491800" y="4333475"/>
            <a:ext cx="86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Review</a:t>
            </a:r>
            <a:endParaRPr b="1" sz="1200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(30%)</a:t>
            </a:r>
            <a:endParaRPr b="1" sz="1200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7530950" y="2659200"/>
            <a:ext cx="86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Plan</a:t>
            </a:r>
            <a:endParaRPr b="1" sz="1200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(30%)</a:t>
            </a:r>
            <a:endParaRPr b="1" sz="1200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5334900" y="2255625"/>
            <a:ext cx="101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Implement</a:t>
            </a:r>
            <a:endParaRPr b="1" sz="1200">
              <a:solidFill>
                <a:srgbClr val="FF0000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(15%)</a:t>
            </a:r>
            <a:endParaRPr b="1" sz="1200">
              <a:solidFill>
                <a:srgbClr val="FF0000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/>
        </p:nvSpPr>
        <p:spPr>
          <a:xfrm>
            <a:off x="321900" y="2015075"/>
            <a:ext cx="42501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간단한 작업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anum Gothic Coding"/>
              <a:buChar char="-"/>
            </a:pP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AI 퍼포먼스 👍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anum Gothic Coding"/>
              <a:buChar char="-"/>
            </a:pP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설계 필요 없음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anum Gothic Coding"/>
              <a:buChar char="-"/>
            </a:pP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생산성 증가 </a:t>
            </a:r>
            <a:r>
              <a:rPr b="1"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적음</a:t>
            </a:r>
            <a:endParaRPr b="1"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321900" y="408525"/>
            <a:ext cx="8500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바이브코딩의</a:t>
            </a:r>
            <a:endParaRPr sz="3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딜레마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4572000" y="2015075"/>
            <a:ext cx="42501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복잡한 작업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anum Gothic Coding"/>
              <a:buChar char="-"/>
            </a:pP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생산성 증가 높음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anum Gothic Coding"/>
              <a:buChar char="-"/>
            </a:pPr>
            <a:r>
              <a:rPr b="1"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검토/리뷰 오버헤드</a:t>
            </a: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발생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anum Gothic Coding"/>
              <a:buChar char="-"/>
            </a:pP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사실상 구현만 위임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(just 키보드 타이핑)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anum Gothic Coding"/>
              <a:buChar char="-"/>
            </a:pP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이럴거면 직접 하는게</a:t>
            </a: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...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/>
        </p:nvSpPr>
        <p:spPr>
          <a:xfrm>
            <a:off x="205499" y="1874500"/>
            <a:ext cx="174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Clarify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(요구사항 구체화)</a:t>
            </a:r>
            <a:endParaRPr sz="1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1952099" y="1874500"/>
            <a:ext cx="174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Plan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(설계)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3698699" y="1874500"/>
            <a:ext cx="174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Implement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(구현)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5445299" y="1874500"/>
            <a:ext cx="174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Self Check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(Lint, test, build)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7191899" y="1874500"/>
            <a:ext cx="174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Review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(코드 리뷰)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cxnSp>
        <p:nvCxnSpPr>
          <p:cNvPr id="117" name="Google Shape;117;p19"/>
          <p:cNvCxnSpPr/>
          <p:nvPr/>
        </p:nvCxnSpPr>
        <p:spPr>
          <a:xfrm>
            <a:off x="445350" y="2571750"/>
            <a:ext cx="825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/>
        </p:nvSpPr>
        <p:spPr>
          <a:xfrm>
            <a:off x="205499" y="1874500"/>
            <a:ext cx="174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Clarify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(요구사항 구체화)</a:t>
            </a:r>
            <a:endParaRPr sz="1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1952099" y="1874500"/>
            <a:ext cx="174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Plan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(설계)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3698699" y="1874500"/>
            <a:ext cx="174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Implement</a:t>
            </a:r>
            <a:endParaRPr sz="16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(구현)</a:t>
            </a:r>
            <a:endParaRPr sz="16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5445299" y="1874500"/>
            <a:ext cx="174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Self Check</a:t>
            </a:r>
            <a:endParaRPr sz="16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(Lint, test, build)</a:t>
            </a:r>
            <a:endParaRPr sz="16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7191899" y="1874500"/>
            <a:ext cx="174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Review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(코드 리뷰)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cxnSp>
        <p:nvCxnSpPr>
          <p:cNvPr id="127" name="Google Shape;127;p20"/>
          <p:cNvCxnSpPr/>
          <p:nvPr/>
        </p:nvCxnSpPr>
        <p:spPr>
          <a:xfrm>
            <a:off x="445350" y="2571750"/>
            <a:ext cx="825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" name="Google Shape;128;p20"/>
          <p:cNvSpPr txBox="1"/>
          <p:nvPr/>
        </p:nvSpPr>
        <p:spPr>
          <a:xfrm>
            <a:off x="1805850" y="3002775"/>
            <a:ext cx="292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→</a:t>
            </a:r>
            <a:endParaRPr b="1" sz="12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2209500" y="2960325"/>
            <a:ext cx="123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Bad plan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462900" y="2960325"/>
            <a:ext cx="1231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Bad spec</a:t>
            </a:r>
            <a:endParaRPr sz="1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3552450" y="3002775"/>
            <a:ext cx="292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→</a:t>
            </a:r>
            <a:endParaRPr b="1" sz="12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3956100" y="2960325"/>
            <a:ext cx="1231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Bad</a:t>
            </a:r>
            <a:r>
              <a:rPr lang="en" sz="33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code</a:t>
            </a:r>
            <a:endParaRPr sz="29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cxnSp>
        <p:nvCxnSpPr>
          <p:cNvPr id="133" name="Google Shape;133;p20"/>
          <p:cNvCxnSpPr/>
          <p:nvPr/>
        </p:nvCxnSpPr>
        <p:spPr>
          <a:xfrm>
            <a:off x="2028875" y="3178450"/>
            <a:ext cx="0" cy="820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20"/>
          <p:cNvCxnSpPr/>
          <p:nvPr/>
        </p:nvCxnSpPr>
        <p:spPr>
          <a:xfrm>
            <a:off x="3772975" y="3178450"/>
            <a:ext cx="0" cy="1773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/>
        </p:nvSpPr>
        <p:spPr>
          <a:xfrm>
            <a:off x="205499" y="1874500"/>
            <a:ext cx="174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Clarify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(요구사항 구체화)</a:t>
            </a:r>
            <a:endParaRPr sz="1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1952099" y="1874500"/>
            <a:ext cx="174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Plan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(설계)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3698699" y="1874500"/>
            <a:ext cx="174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D9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Implement</a:t>
            </a:r>
            <a:endParaRPr b="1" sz="1600">
              <a:solidFill>
                <a:srgbClr val="FFD966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D9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(구현)</a:t>
            </a:r>
            <a:endParaRPr b="1" sz="1600">
              <a:solidFill>
                <a:srgbClr val="FFD966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5445299" y="1874500"/>
            <a:ext cx="174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D9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Self Check</a:t>
            </a:r>
            <a:endParaRPr b="1" sz="1600">
              <a:solidFill>
                <a:srgbClr val="FFD966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D9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(Lint, test, build)</a:t>
            </a:r>
            <a:endParaRPr b="1" sz="1600">
              <a:solidFill>
                <a:srgbClr val="FFD966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7191899" y="1874500"/>
            <a:ext cx="174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Review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(코드 리뷰)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cxnSp>
        <p:nvCxnSpPr>
          <p:cNvPr id="144" name="Google Shape;144;p21"/>
          <p:cNvCxnSpPr/>
          <p:nvPr/>
        </p:nvCxnSpPr>
        <p:spPr>
          <a:xfrm>
            <a:off x="445350" y="2571750"/>
            <a:ext cx="825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" name="Google Shape;145;p21"/>
          <p:cNvSpPr txBox="1"/>
          <p:nvPr/>
        </p:nvSpPr>
        <p:spPr>
          <a:xfrm>
            <a:off x="1805850" y="3002775"/>
            <a:ext cx="292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→</a:t>
            </a:r>
            <a:endParaRPr b="1" sz="12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46" name="Google Shape;146;p21"/>
          <p:cNvSpPr txBox="1"/>
          <p:nvPr/>
        </p:nvSpPr>
        <p:spPr>
          <a:xfrm>
            <a:off x="2209500" y="2960325"/>
            <a:ext cx="123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Bad plan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47" name="Google Shape;147;p21"/>
          <p:cNvSpPr txBox="1"/>
          <p:nvPr/>
        </p:nvSpPr>
        <p:spPr>
          <a:xfrm>
            <a:off x="462900" y="2960325"/>
            <a:ext cx="1231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Bad spec</a:t>
            </a:r>
            <a:endParaRPr sz="1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3552450" y="3002775"/>
            <a:ext cx="292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→</a:t>
            </a:r>
            <a:endParaRPr b="1" sz="12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3956100" y="2960325"/>
            <a:ext cx="1231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Bad code</a:t>
            </a:r>
            <a:endParaRPr sz="29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cxnSp>
        <p:nvCxnSpPr>
          <p:cNvPr id="150" name="Google Shape;150;p21"/>
          <p:cNvCxnSpPr/>
          <p:nvPr/>
        </p:nvCxnSpPr>
        <p:spPr>
          <a:xfrm>
            <a:off x="2028875" y="3178450"/>
            <a:ext cx="0" cy="820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21"/>
          <p:cNvCxnSpPr/>
          <p:nvPr/>
        </p:nvCxnSpPr>
        <p:spPr>
          <a:xfrm>
            <a:off x="3772975" y="3178450"/>
            <a:ext cx="0" cy="1773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/>
        </p:nvSpPr>
        <p:spPr>
          <a:xfrm>
            <a:off x="205499" y="1874500"/>
            <a:ext cx="174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Clarify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(요구사항 구체화)</a:t>
            </a:r>
            <a:endParaRPr sz="1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57" name="Google Shape;157;p22"/>
          <p:cNvSpPr txBox="1"/>
          <p:nvPr/>
        </p:nvSpPr>
        <p:spPr>
          <a:xfrm>
            <a:off x="1952099" y="1874500"/>
            <a:ext cx="174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Plan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(설계)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3698699" y="1874500"/>
            <a:ext cx="174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D9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Implement</a:t>
            </a:r>
            <a:endParaRPr b="1" sz="1600">
              <a:solidFill>
                <a:srgbClr val="FFD966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D9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(구현)</a:t>
            </a:r>
            <a:endParaRPr b="1" sz="1600">
              <a:solidFill>
                <a:srgbClr val="FFD966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59" name="Google Shape;159;p22"/>
          <p:cNvSpPr txBox="1"/>
          <p:nvPr/>
        </p:nvSpPr>
        <p:spPr>
          <a:xfrm>
            <a:off x="5445299" y="1874500"/>
            <a:ext cx="174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D9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Self Check</a:t>
            </a:r>
            <a:endParaRPr b="1" sz="1600">
              <a:solidFill>
                <a:srgbClr val="FFD966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D9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(Lint, test, build)</a:t>
            </a:r>
            <a:endParaRPr b="1" sz="1600">
              <a:solidFill>
                <a:srgbClr val="FFD966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60" name="Google Shape;160;p22"/>
          <p:cNvSpPr txBox="1"/>
          <p:nvPr/>
        </p:nvSpPr>
        <p:spPr>
          <a:xfrm>
            <a:off x="7191899" y="1874500"/>
            <a:ext cx="174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Review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(코드 리뷰)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cxnSp>
        <p:nvCxnSpPr>
          <p:cNvPr id="161" name="Google Shape;161;p22"/>
          <p:cNvCxnSpPr/>
          <p:nvPr/>
        </p:nvCxnSpPr>
        <p:spPr>
          <a:xfrm>
            <a:off x="445350" y="2571750"/>
            <a:ext cx="825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" name="Google Shape;162;p22"/>
          <p:cNvSpPr txBox="1"/>
          <p:nvPr/>
        </p:nvSpPr>
        <p:spPr>
          <a:xfrm>
            <a:off x="249950" y="2862075"/>
            <a:ext cx="3306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일반적인 작업은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설계가 </a:t>
            </a:r>
            <a:r>
              <a:rPr b="1"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가장 중요</a:t>
            </a: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(= seniority)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/>
        </p:nvSpPr>
        <p:spPr>
          <a:xfrm>
            <a:off x="205499" y="1874500"/>
            <a:ext cx="174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Clarify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(요구사항 구체화)</a:t>
            </a:r>
            <a:endParaRPr sz="1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68" name="Google Shape;168;p23"/>
          <p:cNvSpPr txBox="1"/>
          <p:nvPr/>
        </p:nvSpPr>
        <p:spPr>
          <a:xfrm>
            <a:off x="1952099" y="1874500"/>
            <a:ext cx="174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Plan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(설계)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69" name="Google Shape;169;p23"/>
          <p:cNvSpPr txBox="1"/>
          <p:nvPr/>
        </p:nvSpPr>
        <p:spPr>
          <a:xfrm>
            <a:off x="3698699" y="1874500"/>
            <a:ext cx="174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D9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Implement</a:t>
            </a:r>
            <a:endParaRPr b="1" sz="1600">
              <a:solidFill>
                <a:srgbClr val="FFD966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D9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(구현)</a:t>
            </a:r>
            <a:endParaRPr b="1" sz="1600">
              <a:solidFill>
                <a:srgbClr val="FFD966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70" name="Google Shape;170;p23"/>
          <p:cNvSpPr txBox="1"/>
          <p:nvPr/>
        </p:nvSpPr>
        <p:spPr>
          <a:xfrm>
            <a:off x="5445299" y="1874500"/>
            <a:ext cx="174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D9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Self Check</a:t>
            </a:r>
            <a:endParaRPr b="1" sz="1600">
              <a:solidFill>
                <a:srgbClr val="FFD966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D9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(Lint, test, build)</a:t>
            </a:r>
            <a:endParaRPr b="1" sz="1600">
              <a:solidFill>
                <a:srgbClr val="FFD966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71" name="Google Shape;171;p23"/>
          <p:cNvSpPr txBox="1"/>
          <p:nvPr/>
        </p:nvSpPr>
        <p:spPr>
          <a:xfrm>
            <a:off x="7191899" y="1874500"/>
            <a:ext cx="174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Review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(코드 리뷰)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cxnSp>
        <p:nvCxnSpPr>
          <p:cNvPr id="172" name="Google Shape;172;p23"/>
          <p:cNvCxnSpPr/>
          <p:nvPr/>
        </p:nvCxnSpPr>
        <p:spPr>
          <a:xfrm>
            <a:off x="445350" y="2571750"/>
            <a:ext cx="825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3" name="Google Shape;173;p23"/>
          <p:cNvSpPr txBox="1"/>
          <p:nvPr/>
        </p:nvSpPr>
        <p:spPr>
          <a:xfrm>
            <a:off x="249950" y="2862075"/>
            <a:ext cx="3306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일반적인 작업은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설계가 </a:t>
            </a:r>
            <a:r>
              <a:rPr b="1"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가장 중요</a:t>
            </a: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(= seniority)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74" name="Google Shape;174;p23"/>
          <p:cNvSpPr txBox="1"/>
          <p:nvPr/>
        </p:nvSpPr>
        <p:spPr>
          <a:xfrm>
            <a:off x="3556250" y="2862075"/>
            <a:ext cx="3901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D9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일반적</a:t>
            </a:r>
            <a:r>
              <a:rPr lang="en" sz="1600">
                <a:solidFill>
                  <a:srgbClr val="FFD9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이지 않은</a:t>
            </a:r>
            <a:endParaRPr sz="1600">
              <a:solidFill>
                <a:srgbClr val="FFD966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D9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(= Implement/Self Check 비중이 높은)</a:t>
            </a:r>
            <a:r>
              <a:rPr lang="en" sz="1600">
                <a:solidFill>
                  <a:srgbClr val="FFD9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</a:t>
            </a:r>
            <a:r>
              <a:rPr lang="en" sz="1600">
                <a:solidFill>
                  <a:srgbClr val="FFD9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작업</a:t>
            </a:r>
            <a:r>
              <a:rPr lang="en" sz="1600">
                <a:solidFill>
                  <a:srgbClr val="FFD9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을 위임한다</a:t>
            </a:r>
            <a:r>
              <a:rPr b="1" lang="en" sz="1600">
                <a:solidFill>
                  <a:srgbClr val="FFD9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.</a:t>
            </a:r>
            <a:endParaRPr b="1" sz="1600">
              <a:solidFill>
                <a:srgbClr val="FFD966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/>
        </p:nvSpPr>
        <p:spPr>
          <a:xfrm>
            <a:off x="321900" y="408525"/>
            <a:ext cx="85002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anum Gothic Coding"/>
              <a:buChar char="●"/>
            </a:pPr>
            <a:r>
              <a:rPr b="1" lang="en" sz="3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Migration</a:t>
            </a:r>
            <a:endParaRPr b="1" sz="3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anum Gothic Coding"/>
              <a:buChar char="●"/>
            </a:pPr>
            <a:r>
              <a:rPr b="1" lang="en" sz="32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Dev team efficiency</a:t>
            </a:r>
            <a:endParaRPr sz="32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anum Gothic Coding"/>
              <a:buChar char="●"/>
            </a:pPr>
            <a:r>
              <a:rPr b="1" lang="en" sz="3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Make new SaaS</a:t>
            </a:r>
            <a:endParaRPr b="1" sz="3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anum Gothic Coding"/>
              <a:buChar char="●"/>
            </a:pPr>
            <a:r>
              <a:rPr b="1" lang="en" sz="3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Documentation</a:t>
            </a:r>
            <a:endParaRPr b="1" sz="3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anum Gothic Coding"/>
              <a:buChar char="●"/>
            </a:pPr>
            <a:r>
              <a:rPr b="1" lang="en" sz="3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Product based on SPEC</a:t>
            </a:r>
            <a:endParaRPr b="1" sz="3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anum Gothic Coding"/>
              <a:buChar char="●"/>
            </a:pPr>
            <a:r>
              <a:rPr b="1" lang="en" sz="3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Add new feature</a:t>
            </a:r>
            <a:endParaRPr b="1" sz="3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 txBox="1"/>
          <p:nvPr/>
        </p:nvSpPr>
        <p:spPr>
          <a:xfrm>
            <a:off x="321900" y="408525"/>
            <a:ext cx="85002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3200"/>
              <a:buFont typeface="Nanum Gothic Coding"/>
              <a:buChar char="●"/>
            </a:pPr>
            <a:r>
              <a:rPr b="1" lang="en" sz="3200">
                <a:solidFill>
                  <a:srgbClr val="FFD9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Migration</a:t>
            </a:r>
            <a:endParaRPr b="1" sz="3200">
              <a:solidFill>
                <a:srgbClr val="FFD966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anum Gothic Coding"/>
              <a:buChar char="●"/>
            </a:pPr>
            <a:r>
              <a:rPr b="1" lang="en" sz="32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Dev team efficiency</a:t>
            </a:r>
            <a:endParaRPr sz="32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anum Gothic Coding"/>
              <a:buChar char="●"/>
            </a:pPr>
            <a:r>
              <a:rPr b="1" lang="en" sz="3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Make new SaaS</a:t>
            </a:r>
            <a:endParaRPr b="1" sz="3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anum Gothic Coding"/>
              <a:buChar char="●"/>
            </a:pPr>
            <a:r>
              <a:rPr b="1" lang="en" sz="3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Documentation</a:t>
            </a:r>
            <a:endParaRPr b="1" sz="3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3200"/>
              <a:buFont typeface="Nanum Gothic Coding"/>
              <a:buChar char="●"/>
            </a:pPr>
            <a:r>
              <a:rPr b="1" lang="en" sz="3200">
                <a:solidFill>
                  <a:srgbClr val="FFD9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Product based on SPEC</a:t>
            </a:r>
            <a:endParaRPr b="1" sz="32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Nanum Gothic Coding"/>
              <a:buChar char="●"/>
            </a:pPr>
            <a:r>
              <a:rPr b="1" lang="en" sz="32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Add new feature</a:t>
            </a:r>
            <a:endParaRPr b="1" sz="32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/>
          <p:nvPr/>
        </p:nvSpPr>
        <p:spPr>
          <a:xfrm>
            <a:off x="321900" y="408525"/>
            <a:ext cx="85002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3200"/>
              <a:buFont typeface="Nanum Gothic Coding"/>
              <a:buChar char="●"/>
            </a:pPr>
            <a:r>
              <a:rPr b="1" lang="en" sz="3200">
                <a:solidFill>
                  <a:srgbClr val="FFD9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Migration</a:t>
            </a:r>
            <a:endParaRPr b="1" sz="3200">
              <a:solidFill>
                <a:srgbClr val="FFD966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-3810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anum Gothic Coding"/>
              <a:buChar char="○"/>
            </a:pPr>
            <a:r>
              <a:rPr b="1"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ERP. Java (with legacy lib) </a:t>
            </a: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→</a:t>
            </a:r>
            <a:r>
              <a:rPr b="1"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Next.js</a:t>
            </a:r>
            <a:endParaRPr b="1"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-3810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anum Gothic Coding"/>
              <a:buChar char="○"/>
            </a:pPr>
            <a:r>
              <a:rPr b="1"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매우 큰 코드베이스, 많은 기능</a:t>
            </a:r>
            <a:endParaRPr b="1"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3200"/>
              <a:buFont typeface="Nanum Gothic Coding"/>
              <a:buChar char="●"/>
            </a:pPr>
            <a:r>
              <a:rPr b="1" lang="en" sz="3200">
                <a:solidFill>
                  <a:srgbClr val="FFD9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Product based on SPEC</a:t>
            </a:r>
            <a:endParaRPr b="1" sz="3200">
              <a:solidFill>
                <a:srgbClr val="FFD966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-3810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Gothic Coding"/>
              <a:buChar char="○"/>
            </a:pPr>
            <a:r>
              <a:rPr b="1" lang="en" sz="24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ERP/MES 개발사</a:t>
            </a:r>
            <a:endParaRPr b="1" sz="24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-3810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Gothic Coding"/>
              <a:buChar char="○"/>
            </a:pPr>
            <a:r>
              <a:rPr b="1" lang="en" sz="24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Sales 직군이 SPEC 작성, 이후 개발자 구현</a:t>
            </a:r>
            <a:endParaRPr b="1" sz="24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-3810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Gothic Coding"/>
              <a:buChar char="○"/>
            </a:pPr>
            <a:r>
              <a:rPr b="1" lang="en" sz="24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템플릿 기반 개발 자동화</a:t>
            </a:r>
            <a:endParaRPr b="1" sz="24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 txBox="1"/>
          <p:nvPr/>
        </p:nvSpPr>
        <p:spPr>
          <a:xfrm>
            <a:off x="321900" y="2015075"/>
            <a:ext cx="8235900" cy="22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1. Well-Defined</a:t>
            </a:r>
            <a:endParaRPr b="1"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1C232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정확하게 정의된 SPEC</a:t>
            </a: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이 있거나, 생성할 수 있습니다.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유스케이스 수준</a:t>
            </a: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으로 매우 정확하게 작성해야합니다.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e.g. Migration: Legacy code == SPEC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95" name="Google Shape;195;p27"/>
          <p:cNvSpPr txBox="1"/>
          <p:nvPr/>
        </p:nvSpPr>
        <p:spPr>
          <a:xfrm>
            <a:off x="321900" y="408525"/>
            <a:ext cx="850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공통점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/>
        </p:nvSpPr>
        <p:spPr>
          <a:xfrm>
            <a:off x="321900" y="2015075"/>
            <a:ext cx="8235900" cy="22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CCCCCC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1. Well-Defined</a:t>
            </a:r>
            <a:endParaRPr sz="2400">
              <a:solidFill>
                <a:srgbClr val="CCCCCC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2</a:t>
            </a:r>
            <a:r>
              <a:rPr b="1"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. Self-Verifiable</a:t>
            </a:r>
            <a:endParaRPr b="1"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잘 구현되었음을</a:t>
            </a:r>
            <a:r>
              <a:rPr b="1" lang="en" sz="24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</a:t>
            </a:r>
            <a:r>
              <a:rPr b="1" lang="en" sz="2400">
                <a:solidFill>
                  <a:srgbClr val="F1C232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code-level에서 검증</a:t>
            </a:r>
            <a:r>
              <a:rPr b="1" lang="en" sz="24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</a:t>
            </a:r>
            <a:r>
              <a:rPr b="1" lang="en" sz="2400">
                <a:solidFill>
                  <a:srgbClr val="F1C232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가능</a:t>
            </a:r>
            <a:r>
              <a:rPr lang="en" sz="24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합니다.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검증 불가한 것들: </a:t>
            </a: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디자인, 글의 가독성, </a:t>
            </a: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..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01" name="Google Shape;201;p28"/>
          <p:cNvSpPr txBox="1"/>
          <p:nvPr/>
        </p:nvSpPr>
        <p:spPr>
          <a:xfrm>
            <a:off x="321900" y="408525"/>
            <a:ext cx="850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공통점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/>
          <p:nvPr/>
        </p:nvSpPr>
        <p:spPr>
          <a:xfrm>
            <a:off x="321900" y="2015075"/>
            <a:ext cx="8235900" cy="22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CCCCCC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1. Well-Defined</a:t>
            </a:r>
            <a:endParaRPr sz="2400">
              <a:solidFill>
                <a:srgbClr val="CCCCCC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D9D9D9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2. Self-Verifiable</a:t>
            </a:r>
            <a:endParaRPr sz="2400">
              <a:solidFill>
                <a:srgbClr val="D9D9D9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3</a:t>
            </a:r>
            <a:r>
              <a:rPr b="1"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. Repetitive</a:t>
            </a:r>
            <a:endParaRPr b="1"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1C232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지루하고 반복적인 작업</a:t>
            </a:r>
            <a:r>
              <a:rPr lang="en" sz="24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을 많이 포함하고 있습니다.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창의적 설계</a:t>
            </a: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❌ </a:t>
            </a:r>
            <a:r>
              <a:rPr b="1"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규칙에 따라 구현</a:t>
            </a: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✅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07" name="Google Shape;207;p29"/>
          <p:cNvSpPr txBox="1"/>
          <p:nvPr/>
        </p:nvSpPr>
        <p:spPr>
          <a:xfrm>
            <a:off x="321900" y="408525"/>
            <a:ext cx="850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공통점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/>
          <p:nvPr/>
        </p:nvSpPr>
        <p:spPr>
          <a:xfrm>
            <a:off x="321900" y="2015075"/>
            <a:ext cx="8235900" cy="22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1. Well-Defined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2. Self-Verifiable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3. Repetitive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위 </a:t>
            </a: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3</a:t>
            </a: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가지를 만족하는 작업을 </a:t>
            </a:r>
            <a:r>
              <a:rPr b="1"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위임</a:t>
            </a: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한다.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13" name="Google Shape;213;p30"/>
          <p:cNvSpPr txBox="1"/>
          <p:nvPr/>
        </p:nvSpPr>
        <p:spPr>
          <a:xfrm>
            <a:off x="321900" y="408525"/>
            <a:ext cx="8500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Conclusion:</a:t>
            </a:r>
            <a:endParaRPr b="1" sz="3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What to Pipe?</a:t>
            </a:r>
            <a:endParaRPr b="1"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/>
          <p:cNvSpPr txBox="1"/>
          <p:nvPr/>
        </p:nvSpPr>
        <p:spPr>
          <a:xfrm>
            <a:off x="321900" y="2015075"/>
            <a:ext cx="81543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4단계로 접근.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1. Specify (Build Spec)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2. Explore (Find related files, conventions)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3. Plan (Build Plan)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4. Implement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19" name="Google Shape;219;p31"/>
          <p:cNvSpPr txBox="1"/>
          <p:nvPr/>
        </p:nvSpPr>
        <p:spPr>
          <a:xfrm>
            <a:off x="321900" y="408525"/>
            <a:ext cx="8500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Next step:</a:t>
            </a:r>
            <a:endParaRPr b="1" sz="3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Pipeline design</a:t>
            </a:r>
            <a:endParaRPr b="1"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2" title="Screenshot 2025-12-11 at 8.55.4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212" y="769629"/>
            <a:ext cx="8415577" cy="3432997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2"/>
          <p:cNvSpPr txBox="1"/>
          <p:nvPr/>
        </p:nvSpPr>
        <p:spPr>
          <a:xfrm>
            <a:off x="547026" y="3637250"/>
            <a:ext cx="119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Human review</a:t>
            </a:r>
            <a:endParaRPr sz="1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26" name="Google Shape;226;p32"/>
          <p:cNvSpPr txBox="1"/>
          <p:nvPr/>
        </p:nvSpPr>
        <p:spPr>
          <a:xfrm>
            <a:off x="2979001" y="3637250"/>
            <a:ext cx="119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Human review</a:t>
            </a:r>
            <a:endParaRPr sz="1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27" name="Google Shape;227;p32"/>
          <p:cNvSpPr txBox="1"/>
          <p:nvPr/>
        </p:nvSpPr>
        <p:spPr>
          <a:xfrm>
            <a:off x="5105976" y="3637250"/>
            <a:ext cx="119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Human review</a:t>
            </a:r>
            <a:endParaRPr sz="1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28" name="Google Shape;228;p32"/>
          <p:cNvSpPr txBox="1"/>
          <p:nvPr/>
        </p:nvSpPr>
        <p:spPr>
          <a:xfrm>
            <a:off x="321900" y="114200"/>
            <a:ext cx="8500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Example 1 - Legacy project migration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Prompt: </a:t>
            </a: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"구매관리 하위 기능들을 구현하라" 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33" title="Screenshot 2025-12-11 at 8.55.4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212" y="769629"/>
            <a:ext cx="8415577" cy="3432997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3"/>
          <p:cNvSpPr txBox="1"/>
          <p:nvPr/>
        </p:nvSpPr>
        <p:spPr>
          <a:xfrm>
            <a:off x="547026" y="3637250"/>
            <a:ext cx="119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Human review</a:t>
            </a:r>
            <a:endParaRPr sz="1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35" name="Google Shape;235;p33"/>
          <p:cNvSpPr txBox="1"/>
          <p:nvPr/>
        </p:nvSpPr>
        <p:spPr>
          <a:xfrm>
            <a:off x="2979001" y="3637250"/>
            <a:ext cx="119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Human review</a:t>
            </a:r>
            <a:endParaRPr sz="1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36" name="Google Shape;236;p33"/>
          <p:cNvSpPr txBox="1"/>
          <p:nvPr/>
        </p:nvSpPr>
        <p:spPr>
          <a:xfrm>
            <a:off x="5105976" y="3637250"/>
            <a:ext cx="119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Human review</a:t>
            </a:r>
            <a:endParaRPr sz="1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37" name="Google Shape;237;p33"/>
          <p:cNvSpPr txBox="1"/>
          <p:nvPr/>
        </p:nvSpPr>
        <p:spPr>
          <a:xfrm>
            <a:off x="364200" y="4121550"/>
            <a:ext cx="71607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1. 각 phase의 </a:t>
            </a:r>
            <a:r>
              <a:rPr b="1"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결과만 사람이 검토</a:t>
            </a: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한다.</a:t>
            </a:r>
            <a:endParaRPr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38" name="Google Shape;238;p33"/>
          <p:cNvSpPr txBox="1"/>
          <p:nvPr/>
        </p:nvSpPr>
        <p:spPr>
          <a:xfrm>
            <a:off x="321900" y="114200"/>
            <a:ext cx="8500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Example 1 - Legacy project migration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Prompt: "구매관리 하위 기능들을 구현하라" 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34" title="Screenshot 2025-12-11 at 8.55.4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212" y="769629"/>
            <a:ext cx="8415577" cy="3432997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4"/>
          <p:cNvSpPr txBox="1"/>
          <p:nvPr/>
        </p:nvSpPr>
        <p:spPr>
          <a:xfrm>
            <a:off x="547026" y="3637250"/>
            <a:ext cx="119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Human review</a:t>
            </a:r>
            <a:endParaRPr sz="1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45" name="Google Shape;245;p34"/>
          <p:cNvSpPr txBox="1"/>
          <p:nvPr/>
        </p:nvSpPr>
        <p:spPr>
          <a:xfrm>
            <a:off x="2979001" y="3637250"/>
            <a:ext cx="119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Human review</a:t>
            </a:r>
            <a:endParaRPr sz="1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46" name="Google Shape;246;p34"/>
          <p:cNvSpPr txBox="1"/>
          <p:nvPr/>
        </p:nvSpPr>
        <p:spPr>
          <a:xfrm>
            <a:off x="364200" y="4121550"/>
            <a:ext cx="71607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1. 각 phase의 </a:t>
            </a:r>
            <a:r>
              <a:rPr b="1"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결과만 사람이 검토</a:t>
            </a: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한다.</a:t>
            </a:r>
            <a:endParaRPr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2. 각 phase를 시작하기앞서, </a:t>
            </a:r>
            <a:r>
              <a:rPr b="1" lang="en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제대로 이해한 것이 맞는지</a:t>
            </a:r>
            <a:r>
              <a:rPr lang="en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</a:t>
            </a: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되묻는다.</a:t>
            </a:r>
            <a:endParaRPr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47" name="Google Shape;247;p34"/>
          <p:cNvSpPr txBox="1"/>
          <p:nvPr/>
        </p:nvSpPr>
        <p:spPr>
          <a:xfrm>
            <a:off x="5105976" y="3637250"/>
            <a:ext cx="119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Human review</a:t>
            </a:r>
            <a:endParaRPr sz="1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48" name="Google Shape;248;p34"/>
          <p:cNvSpPr txBox="1"/>
          <p:nvPr/>
        </p:nvSpPr>
        <p:spPr>
          <a:xfrm>
            <a:off x="321900" y="114200"/>
            <a:ext cx="8500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Example 1 - Legacy project migration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Prompt: "구매관리 하위 기능들을 구현하라" 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5" title="Screenshot 2025-12-11 at 8.55.4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212" y="769629"/>
            <a:ext cx="8415577" cy="3432997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5"/>
          <p:cNvSpPr txBox="1"/>
          <p:nvPr/>
        </p:nvSpPr>
        <p:spPr>
          <a:xfrm>
            <a:off x="547026" y="3637250"/>
            <a:ext cx="119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Human review</a:t>
            </a:r>
            <a:endParaRPr sz="1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55" name="Google Shape;255;p35"/>
          <p:cNvSpPr txBox="1"/>
          <p:nvPr/>
        </p:nvSpPr>
        <p:spPr>
          <a:xfrm>
            <a:off x="2979001" y="3637250"/>
            <a:ext cx="119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Human review</a:t>
            </a:r>
            <a:endParaRPr sz="1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56" name="Google Shape;256;p35"/>
          <p:cNvSpPr txBox="1"/>
          <p:nvPr/>
        </p:nvSpPr>
        <p:spPr>
          <a:xfrm>
            <a:off x="364200" y="4121550"/>
            <a:ext cx="71607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1. 각 phase의 </a:t>
            </a:r>
            <a:r>
              <a:rPr b="1"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결과만 사람이 검토</a:t>
            </a: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한다.</a:t>
            </a:r>
            <a:endParaRPr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2. </a:t>
            </a: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각 phase를 시작하기앞서, </a:t>
            </a:r>
            <a:r>
              <a:rPr b="1" lang="en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제대로 이해한 것이 맞는지</a:t>
            </a:r>
            <a:r>
              <a:rPr lang="en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</a:t>
            </a: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되묻는다.</a:t>
            </a:r>
            <a:endParaRPr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3. Planning은 opus로, Implement는 sonnet으로 한다.</a:t>
            </a:r>
            <a:endParaRPr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57" name="Google Shape;257;p35"/>
          <p:cNvSpPr txBox="1"/>
          <p:nvPr/>
        </p:nvSpPr>
        <p:spPr>
          <a:xfrm>
            <a:off x="5105976" y="3637250"/>
            <a:ext cx="119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Human review</a:t>
            </a:r>
            <a:endParaRPr sz="1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58" name="Google Shape;258;p35"/>
          <p:cNvSpPr txBox="1"/>
          <p:nvPr/>
        </p:nvSpPr>
        <p:spPr>
          <a:xfrm>
            <a:off x="321900" y="114200"/>
            <a:ext cx="8500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Example 1 - Legacy project migration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Prompt: "구매관리 하위 기능들을 구현하라" 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/>
        </p:nvSpPr>
        <p:spPr>
          <a:xfrm>
            <a:off x="321900" y="408525"/>
            <a:ext cx="8500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Example 1:</a:t>
            </a:r>
            <a:endParaRPr sz="3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Legacy migration 성과</a:t>
            </a:r>
            <a:endParaRPr sz="3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64" name="Google Shape;264;p36"/>
          <p:cNvSpPr txBox="1"/>
          <p:nvPr/>
        </p:nvSpPr>
        <p:spPr>
          <a:xfrm>
            <a:off x="321900" y="2015075"/>
            <a:ext cx="81543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총 113개 기능, 96개 페이지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1C232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1명이</a:t>
            </a:r>
            <a:r>
              <a:rPr lang="en" sz="2400">
                <a:solidFill>
                  <a:srgbClr val="F1C232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</a:t>
            </a:r>
            <a:r>
              <a:rPr b="1" lang="en" sz="2400">
                <a:solidFill>
                  <a:srgbClr val="F1C232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1주만에</a:t>
            </a: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Migration 완료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anum Gothic Coding"/>
              <a:buChar char="●"/>
            </a:pP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파이프라인 세팅/반복 개선: 14 days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anum Gothic Coding"/>
              <a:buChar char="●"/>
            </a:pP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구현 + 검증 반복: 7 days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anum Gothic Coding"/>
              <a:buChar char="●"/>
            </a:pP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배포 및 안정화: 14 days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7"/>
          <p:cNvSpPr txBox="1"/>
          <p:nvPr/>
        </p:nvSpPr>
        <p:spPr>
          <a:xfrm>
            <a:off x="321900" y="114200"/>
            <a:ext cx="8500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Example 2 - Build template based MES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Prompt: "xxxx</a:t>
            </a: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사 MES 만들어라</a:t>
            </a: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" 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pic>
        <p:nvPicPr>
          <p:cNvPr id="270" name="Google Shape;270;p37" title="Screenshot 2025-12-11 at 9.43.36 AM.png"/>
          <p:cNvPicPr preferRelativeResize="0"/>
          <p:nvPr/>
        </p:nvPicPr>
        <p:blipFill rotWithShape="1">
          <a:blip r:embed="rId3">
            <a:alphaModFix/>
          </a:blip>
          <a:srcRect b="0" l="11190" r="0" t="0"/>
          <a:stretch/>
        </p:blipFill>
        <p:spPr>
          <a:xfrm>
            <a:off x="6110614" y="814475"/>
            <a:ext cx="1849025" cy="3859076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1" name="Google Shape;271;p37" title="Screenshot 2025-12-11 at 9.38.30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4350" y="993275"/>
            <a:ext cx="2442625" cy="3501451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2" name="Google Shape;272;p37" title="Screenshot 2025-12-11 at 9.50.34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82763" y="875975"/>
            <a:ext cx="1972075" cy="3736049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7"/>
          <p:cNvSpPr txBox="1"/>
          <p:nvPr/>
        </p:nvSpPr>
        <p:spPr>
          <a:xfrm>
            <a:off x="1807013" y="3905750"/>
            <a:ext cx="119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Human review</a:t>
            </a:r>
            <a:endParaRPr sz="1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74" name="Google Shape;274;p37"/>
          <p:cNvSpPr txBox="1"/>
          <p:nvPr/>
        </p:nvSpPr>
        <p:spPr>
          <a:xfrm>
            <a:off x="4270151" y="4105150"/>
            <a:ext cx="119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r</a:t>
            </a:r>
            <a:r>
              <a:rPr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eview X</a:t>
            </a:r>
            <a:endParaRPr sz="1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8"/>
          <p:cNvSpPr txBox="1"/>
          <p:nvPr/>
        </p:nvSpPr>
        <p:spPr>
          <a:xfrm>
            <a:off x="321900" y="114200"/>
            <a:ext cx="8500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Example 2 - Build template based MES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Prompt: "xxxx사 MES 만들어라" 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pic>
        <p:nvPicPr>
          <p:cNvPr id="280" name="Google Shape;280;p38" title="Screenshot 2025-12-11 at 9.54.00 AM.png"/>
          <p:cNvPicPr preferRelativeResize="0"/>
          <p:nvPr/>
        </p:nvPicPr>
        <p:blipFill rotWithShape="1">
          <a:blip r:embed="rId3">
            <a:alphaModFix/>
          </a:blip>
          <a:srcRect b="6711" l="3947" r="5726" t="7458"/>
          <a:stretch/>
        </p:blipFill>
        <p:spPr>
          <a:xfrm>
            <a:off x="471175" y="1502000"/>
            <a:ext cx="2077275" cy="109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8" title="Screenshot 2025-12-11 at 9.54.11 AM.png"/>
          <p:cNvPicPr preferRelativeResize="0"/>
          <p:nvPr/>
        </p:nvPicPr>
        <p:blipFill rotWithShape="1">
          <a:blip r:embed="rId4">
            <a:alphaModFix/>
          </a:blip>
          <a:srcRect b="9610" l="3951" r="3516" t="9835"/>
          <a:stretch/>
        </p:blipFill>
        <p:spPr>
          <a:xfrm>
            <a:off x="2649788" y="1524800"/>
            <a:ext cx="2127925" cy="105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8"/>
          <p:cNvSpPr txBox="1"/>
          <p:nvPr/>
        </p:nvSpPr>
        <p:spPr>
          <a:xfrm>
            <a:off x="4934775" y="1590875"/>
            <a:ext cx="42825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1. </a:t>
            </a:r>
            <a:r>
              <a:rPr b="1"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요구사항 데이터를 정형화</a:t>
            </a: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한다.</a:t>
            </a:r>
            <a:endParaRPr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 - 기존: Powerpoint + 구두 전달</a:t>
            </a:r>
            <a:endParaRPr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 - New: Notion, Spreadsheet(양식 존재)</a:t>
            </a:r>
            <a:endParaRPr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 - Machine Readability가 핵심</a:t>
            </a:r>
            <a:endParaRPr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9"/>
          <p:cNvSpPr txBox="1"/>
          <p:nvPr/>
        </p:nvSpPr>
        <p:spPr>
          <a:xfrm>
            <a:off x="321900" y="114200"/>
            <a:ext cx="8500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Example 2 - Build template based MES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Prompt: "xxxx사 MES 만들어라" 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pic>
        <p:nvPicPr>
          <p:cNvPr id="288" name="Google Shape;288;p39" title="Screenshot 2025-12-11 at 9.54.00 AM.png"/>
          <p:cNvPicPr preferRelativeResize="0"/>
          <p:nvPr/>
        </p:nvPicPr>
        <p:blipFill rotWithShape="1">
          <a:blip r:embed="rId3">
            <a:alphaModFix/>
          </a:blip>
          <a:srcRect b="6711" l="3947" r="5726" t="7458"/>
          <a:stretch/>
        </p:blipFill>
        <p:spPr>
          <a:xfrm>
            <a:off x="471175" y="1502000"/>
            <a:ext cx="2077275" cy="109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9" title="Screenshot 2025-12-11 at 9.54.11 AM.png"/>
          <p:cNvPicPr preferRelativeResize="0"/>
          <p:nvPr/>
        </p:nvPicPr>
        <p:blipFill rotWithShape="1">
          <a:blip r:embed="rId4">
            <a:alphaModFix/>
          </a:blip>
          <a:srcRect b="9610" l="3951" r="3516" t="9835"/>
          <a:stretch/>
        </p:blipFill>
        <p:spPr>
          <a:xfrm>
            <a:off x="2649788" y="1524800"/>
            <a:ext cx="2127925" cy="105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9" title="Screenshot 2025-12-11 at 9.54.29 AM.png"/>
          <p:cNvPicPr preferRelativeResize="0"/>
          <p:nvPr/>
        </p:nvPicPr>
        <p:blipFill rotWithShape="1">
          <a:blip r:embed="rId5">
            <a:alphaModFix/>
          </a:blip>
          <a:srcRect b="6711" l="4115" r="4014" t="7458"/>
          <a:stretch/>
        </p:blipFill>
        <p:spPr>
          <a:xfrm>
            <a:off x="496525" y="3128550"/>
            <a:ext cx="2026575" cy="109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9" title="Screenshot 2025-12-11 at 9.54.44 AM.png"/>
          <p:cNvPicPr preferRelativeResize="0"/>
          <p:nvPr/>
        </p:nvPicPr>
        <p:blipFill rotWithShape="1">
          <a:blip r:embed="rId6">
            <a:alphaModFix/>
          </a:blip>
          <a:srcRect b="5156" l="3191" r="4017" t="6403"/>
          <a:stretch/>
        </p:blipFill>
        <p:spPr>
          <a:xfrm>
            <a:off x="2690312" y="3128550"/>
            <a:ext cx="2046850" cy="109942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9"/>
          <p:cNvSpPr txBox="1"/>
          <p:nvPr/>
        </p:nvSpPr>
        <p:spPr>
          <a:xfrm>
            <a:off x="911163" y="2633475"/>
            <a:ext cx="119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Notion - Read</a:t>
            </a:r>
            <a:endParaRPr sz="1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93" name="Google Shape;293;p39"/>
          <p:cNvSpPr txBox="1"/>
          <p:nvPr/>
        </p:nvSpPr>
        <p:spPr>
          <a:xfrm>
            <a:off x="2902704" y="2633475"/>
            <a:ext cx="162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Spreadsheet - Read</a:t>
            </a:r>
            <a:endParaRPr sz="1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94" name="Google Shape;294;p39"/>
          <p:cNvSpPr txBox="1"/>
          <p:nvPr/>
        </p:nvSpPr>
        <p:spPr>
          <a:xfrm>
            <a:off x="2902704" y="4353750"/>
            <a:ext cx="162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Database</a:t>
            </a:r>
            <a:r>
              <a:rPr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- Insert</a:t>
            </a:r>
            <a:endParaRPr sz="1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95" name="Google Shape;295;p39"/>
          <p:cNvSpPr txBox="1"/>
          <p:nvPr/>
        </p:nvSpPr>
        <p:spPr>
          <a:xfrm>
            <a:off x="698779" y="4353750"/>
            <a:ext cx="162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Execute commands</a:t>
            </a:r>
            <a:endParaRPr sz="12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96" name="Google Shape;296;p39"/>
          <p:cNvSpPr txBox="1"/>
          <p:nvPr/>
        </p:nvSpPr>
        <p:spPr>
          <a:xfrm>
            <a:off x="4934775" y="1590875"/>
            <a:ext cx="42825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6666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1. </a:t>
            </a:r>
            <a:r>
              <a:rPr b="1" lang="en">
                <a:solidFill>
                  <a:srgbClr val="6666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요구사항 데이터를 정형화</a:t>
            </a:r>
            <a:r>
              <a:rPr lang="en">
                <a:solidFill>
                  <a:srgbClr val="6666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한다.</a:t>
            </a:r>
            <a:endParaRPr>
              <a:solidFill>
                <a:srgbClr val="666666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6666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 - 기존: Powerpoint + 구두 전달</a:t>
            </a:r>
            <a:endParaRPr>
              <a:solidFill>
                <a:srgbClr val="666666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6666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 - New: Notion, Spreadsheet(양식 존재)</a:t>
            </a:r>
            <a:endParaRPr>
              <a:solidFill>
                <a:srgbClr val="666666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6666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 - Machine Readability가 핵심</a:t>
            </a:r>
            <a:endParaRPr>
              <a:solidFill>
                <a:srgbClr val="666666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2. </a:t>
            </a: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각 agent</a:t>
            </a: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에게 적절한 </a:t>
            </a:r>
            <a:r>
              <a:rPr b="1"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Custom MCP</a:t>
            </a: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를 쥐어준다.</a:t>
            </a:r>
            <a:endParaRPr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 - Agent 성능 향상</a:t>
            </a:r>
            <a:endParaRPr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 - Context 최적화</a:t>
            </a:r>
            <a:endParaRPr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 - 내부 리소스 접근</a:t>
            </a:r>
            <a:endParaRPr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0"/>
          <p:cNvSpPr txBox="1"/>
          <p:nvPr/>
        </p:nvSpPr>
        <p:spPr>
          <a:xfrm>
            <a:off x="321900" y="114200"/>
            <a:ext cx="8500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Example 2 - Build template based MES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Prompt: "xxxx사 MES 만들어라" 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pic>
        <p:nvPicPr>
          <p:cNvPr id="302" name="Google Shape;302;p40" title="Screenshot 2025-12-11 at 9.59.5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075" y="1590875"/>
            <a:ext cx="3562350" cy="191452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0"/>
          <p:cNvSpPr txBox="1"/>
          <p:nvPr/>
        </p:nvSpPr>
        <p:spPr>
          <a:xfrm>
            <a:off x="355075" y="3646775"/>
            <a:ext cx="56112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</a:t>
            </a:r>
            <a:r>
              <a:rPr lang="en" sz="9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ython3 scripts/</a:t>
            </a:r>
            <a:r>
              <a:rPr b="1" lang="en" sz="9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init-page.py</a:t>
            </a:r>
            <a:r>
              <a:rPr lang="en" sz="9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--name=CarManagement --template-type=3</a:t>
            </a:r>
            <a:endParaRPr sz="9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python3 scripts/create-contracts.py src/modules/car-management</a:t>
            </a:r>
            <a:endParaRPr sz="9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04" name="Google Shape;304;p40"/>
          <p:cNvSpPr txBox="1"/>
          <p:nvPr/>
        </p:nvSpPr>
        <p:spPr>
          <a:xfrm>
            <a:off x="4934775" y="1590875"/>
            <a:ext cx="42825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6666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1. </a:t>
            </a:r>
            <a:r>
              <a:rPr b="1" lang="en">
                <a:solidFill>
                  <a:srgbClr val="6666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요구사항 데이터를 정형화</a:t>
            </a:r>
            <a:r>
              <a:rPr lang="en">
                <a:solidFill>
                  <a:srgbClr val="6666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한다.</a:t>
            </a:r>
            <a:endParaRPr>
              <a:solidFill>
                <a:srgbClr val="666666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6666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 - 기존: Powerpoint + 구두 전달</a:t>
            </a:r>
            <a:endParaRPr>
              <a:solidFill>
                <a:srgbClr val="666666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6666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 - New: Notion, Spreadsheet(양식 존재)</a:t>
            </a:r>
            <a:endParaRPr>
              <a:solidFill>
                <a:srgbClr val="666666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6666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 - Machine Readability가 핵심</a:t>
            </a:r>
            <a:endParaRPr>
              <a:solidFill>
                <a:srgbClr val="666666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2. </a:t>
            </a:r>
            <a:r>
              <a:rPr lang="en">
                <a:solidFill>
                  <a:srgbClr val="6666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각 agent에게 적절한 </a:t>
            </a:r>
            <a:r>
              <a:rPr b="1" lang="en">
                <a:solidFill>
                  <a:srgbClr val="6666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Custom MCP</a:t>
            </a:r>
            <a:r>
              <a:rPr lang="en">
                <a:solidFill>
                  <a:srgbClr val="6666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를 쥐어준다.</a:t>
            </a:r>
            <a:endParaRPr>
              <a:solidFill>
                <a:srgbClr val="666666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 - Agent 성능 향상</a:t>
            </a:r>
            <a:endParaRPr>
              <a:solidFill>
                <a:srgbClr val="666666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 - Context 최적화</a:t>
            </a:r>
            <a:endParaRPr>
              <a:solidFill>
                <a:srgbClr val="666666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 - 내부 리소스 접근</a:t>
            </a:r>
            <a:endParaRPr>
              <a:solidFill>
                <a:srgbClr val="666666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3</a:t>
            </a: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. </a:t>
            </a:r>
            <a:r>
              <a:rPr b="1"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규칙적인 파일 생성은 script로</a:t>
            </a: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한다.</a:t>
            </a:r>
            <a:endParaRPr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 - 빈 파일 생성, API 연동 등</a:t>
            </a:r>
            <a:endParaRPr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 - Context 절약, 정확도/작업속도 향상</a:t>
            </a:r>
            <a:endParaRPr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1"/>
          <p:cNvSpPr txBox="1"/>
          <p:nvPr/>
        </p:nvSpPr>
        <p:spPr>
          <a:xfrm>
            <a:off x="321900" y="2015075"/>
            <a:ext cx="81543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평균</a:t>
            </a: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50+</a:t>
            </a: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개</a:t>
            </a: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기능 </a:t>
            </a: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시스템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1C232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One shot으로</a:t>
            </a: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</a:t>
            </a: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초기 구현 완료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CCCCCC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개발자 한 3명 붙어서 못 해도 N일은 작업해야됨.</a:t>
            </a:r>
            <a:endParaRPr sz="2400">
              <a:solidFill>
                <a:srgbClr val="CCCCCC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CCCCCC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(템플릿 사용 기준)</a:t>
            </a:r>
            <a:endParaRPr sz="2400">
              <a:solidFill>
                <a:srgbClr val="CCCCCC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anum Gothic Coding"/>
              <a:buChar char="●"/>
            </a:pPr>
            <a:r>
              <a:rPr lang="en" sz="24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파이프라인 세팅/반복 개선: 14 days</a:t>
            </a:r>
            <a:endParaRPr sz="24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10" name="Google Shape;310;p41"/>
          <p:cNvSpPr txBox="1"/>
          <p:nvPr/>
        </p:nvSpPr>
        <p:spPr>
          <a:xfrm>
            <a:off x="321900" y="408525"/>
            <a:ext cx="8500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Example 2:</a:t>
            </a:r>
            <a:endParaRPr sz="3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Template based MES 성과</a:t>
            </a:r>
            <a:endParaRPr sz="3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2"/>
          <p:cNvSpPr txBox="1"/>
          <p:nvPr/>
        </p:nvSpPr>
        <p:spPr>
          <a:xfrm>
            <a:off x="810523" y="3781700"/>
            <a:ext cx="3714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- 요청하면, AI가 적절한 도움을 준다.</a:t>
            </a:r>
            <a:endParaRPr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- 작업진행주체 = 사람. AI는 조수/도구</a:t>
            </a:r>
            <a:endParaRPr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For 창의적인 + 비정형적인 작업</a:t>
            </a:r>
            <a:endParaRPr b="1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16" name="Google Shape;316;p42"/>
          <p:cNvSpPr txBox="1"/>
          <p:nvPr/>
        </p:nvSpPr>
        <p:spPr>
          <a:xfrm>
            <a:off x="321900" y="408525"/>
            <a:ext cx="850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Vibe Coding vs Pipe Coding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pic>
        <p:nvPicPr>
          <p:cNvPr id="317" name="Google Shape;31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6660" y="1429000"/>
            <a:ext cx="2082624" cy="208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4711" y="1429010"/>
            <a:ext cx="2082624" cy="2082624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42"/>
          <p:cNvSpPr txBox="1"/>
          <p:nvPr/>
        </p:nvSpPr>
        <p:spPr>
          <a:xfrm>
            <a:off x="4618586" y="3781700"/>
            <a:ext cx="3714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- 에이전트 </a:t>
            </a: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협력을</a:t>
            </a: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설계하고 완전히 위임</a:t>
            </a:r>
            <a:endParaRPr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- 작업진행주체 = AI. 사람은 감독/검토</a:t>
            </a:r>
            <a:endParaRPr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For 규칙적인 + 검증가능한 작업</a:t>
            </a:r>
            <a:endParaRPr b="1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3"/>
          <p:cNvSpPr txBox="1"/>
          <p:nvPr/>
        </p:nvSpPr>
        <p:spPr>
          <a:xfrm>
            <a:off x="321900" y="2015075"/>
            <a:ext cx="8235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Claude Code의 </a:t>
            </a:r>
            <a:r>
              <a:rPr b="1"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plan mode</a:t>
            </a: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를 사용하면,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기본적으로 Explore / Plan / Impl phase를 나누어 작업합니다.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25" name="Google Shape;325;p43"/>
          <p:cNvSpPr txBox="1"/>
          <p:nvPr/>
        </p:nvSpPr>
        <p:spPr>
          <a:xfrm>
            <a:off x="321900" y="408525"/>
            <a:ext cx="850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Pipe Coding 체험하는 법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pic>
        <p:nvPicPr>
          <p:cNvPr id="326" name="Google Shape;326;p43" title="default-ag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025" y="3081675"/>
            <a:ext cx="2999925" cy="180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4"/>
          <p:cNvSpPr txBox="1"/>
          <p:nvPr/>
        </p:nvSpPr>
        <p:spPr>
          <a:xfrm>
            <a:off x="321900" y="408525"/>
            <a:ext cx="850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Pipelinable tasks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32" name="Google Shape;332;p44"/>
          <p:cNvSpPr txBox="1"/>
          <p:nvPr/>
        </p:nvSpPr>
        <p:spPr>
          <a:xfrm>
            <a:off x="321900" y="2015075"/>
            <a:ext cx="82359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1. Well-Defined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2. Self-Verifiable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3. Repetitive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위 3가지는 거진 필수.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1C232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일반적인 작업을</a:t>
            </a:r>
            <a:endParaRPr b="1" sz="2000">
              <a:solidFill>
                <a:srgbClr val="F1C232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1C232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Pipelinable하게 쪼개거나 우회하는 것도 가능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5"/>
          <p:cNvSpPr txBox="1"/>
          <p:nvPr/>
        </p:nvSpPr>
        <p:spPr>
          <a:xfrm>
            <a:off x="321900" y="2015075"/>
            <a:ext cx="81543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1. Phase별 sub agent 생성 (Specify, Research, Plan, Impl)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2. sub agent 최적화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 - 필요한 도구 생성 (Skill/MCP)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 - 시스템 프롬프트 최적화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3. (필요시) sub agent 분해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 - 병렬처리 / Context분리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1C232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가장 중요*) 반복 사용하며 고도화하기!</a:t>
            </a:r>
            <a:endParaRPr b="1" sz="2000">
              <a:solidFill>
                <a:srgbClr val="F1C232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38" name="Google Shape;338;p45"/>
          <p:cNvSpPr txBox="1"/>
          <p:nvPr/>
        </p:nvSpPr>
        <p:spPr>
          <a:xfrm>
            <a:off x="321900" y="408525"/>
            <a:ext cx="8500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Design Process</a:t>
            </a:r>
            <a:endParaRPr b="1" sz="3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(recommend    Claude Code)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pic>
        <p:nvPicPr>
          <p:cNvPr id="339" name="Google Shape;33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1380" y="1073084"/>
            <a:ext cx="309299" cy="309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6"/>
          <p:cNvSpPr txBox="1"/>
          <p:nvPr/>
        </p:nvSpPr>
        <p:spPr>
          <a:xfrm>
            <a:off x="321900" y="2015075"/>
            <a:ext cx="81543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왜 Claude Code를 추천하나요?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- opus가 성능이 가장 좋습니다.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- </a:t>
            </a:r>
            <a:r>
              <a:rPr lang="en" sz="2000">
                <a:solidFill>
                  <a:srgbClr val="F1C232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sub agent</a:t>
            </a: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기능이 claude code에만 있습니다.</a:t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- 그 외에도 에이전트 최적화 기능지원이 가장 좋습니다.</a:t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45" name="Google Shape;345;p46"/>
          <p:cNvSpPr txBox="1"/>
          <p:nvPr/>
        </p:nvSpPr>
        <p:spPr>
          <a:xfrm>
            <a:off x="321900" y="408525"/>
            <a:ext cx="850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faq.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7"/>
          <p:cNvSpPr txBox="1"/>
          <p:nvPr/>
        </p:nvSpPr>
        <p:spPr>
          <a:xfrm>
            <a:off x="321900" y="2015075"/>
            <a:ext cx="81543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MCP vs Skills. </a:t>
            </a:r>
            <a:r>
              <a:rPr b="1"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뭘 써야할까요</a:t>
            </a:r>
            <a:r>
              <a:rPr b="1"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?</a:t>
            </a:r>
            <a:endParaRPr b="1"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- </a:t>
            </a: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내부 </a:t>
            </a: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파이프라인 최적화 관점에서는 MCP가 유리</a:t>
            </a: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합니다.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- Remote Server(HTTP)를 지원하기 때문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- 배포가 쉬움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- Authenticate 가능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- Skills는 File-Based라 관리 어려움.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- 개선하면, 구성원 모두가 다시 설치해야함 ..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- 얼른 Remote Skills가 지원되면 좋겠네요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51" name="Google Shape;351;p47"/>
          <p:cNvSpPr txBox="1"/>
          <p:nvPr/>
        </p:nvSpPr>
        <p:spPr>
          <a:xfrm>
            <a:off x="321900" y="408525"/>
            <a:ext cx="850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faq.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8"/>
          <p:cNvSpPr txBox="1"/>
          <p:nvPr/>
        </p:nvSpPr>
        <p:spPr>
          <a:xfrm>
            <a:off x="321900" y="2015075"/>
            <a:ext cx="81543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대규모 리팩토링 작업도 위임할 수 있을까요</a:t>
            </a:r>
            <a:r>
              <a:rPr b="1"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?</a:t>
            </a:r>
            <a:endParaRPr b="1"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- </a:t>
            </a: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네, 가능합니다.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다만 작업이 </a:t>
            </a:r>
            <a:r>
              <a:rPr b="1"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Self-Verifiable, Repetitive</a:t>
            </a: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할 수 있도록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아키텍쳐/harness를 개발자가 설계하고 강제해야합니다.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1C232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TIP)</a:t>
            </a:r>
            <a:r>
              <a:rPr lang="en" sz="2000">
                <a:solidFill>
                  <a:srgbClr val="F1C232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</a:t>
            </a:r>
            <a:r>
              <a:rPr b="1" lang="en" sz="2000">
                <a:solidFill>
                  <a:srgbClr val="F1C232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layered architecture</a:t>
            </a:r>
            <a:r>
              <a:rPr lang="en" sz="2000">
                <a:solidFill>
                  <a:srgbClr val="F1C232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를 꼭 지키는 편이 좋습니다.</a:t>
            </a:r>
            <a:endParaRPr sz="2000">
              <a:solidFill>
                <a:srgbClr val="F1C232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57" name="Google Shape;357;p48"/>
          <p:cNvSpPr txBox="1"/>
          <p:nvPr/>
        </p:nvSpPr>
        <p:spPr>
          <a:xfrm>
            <a:off x="321900" y="408525"/>
            <a:ext cx="850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faq.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9"/>
          <p:cNvSpPr txBox="1"/>
          <p:nvPr/>
        </p:nvSpPr>
        <p:spPr>
          <a:xfrm>
            <a:off x="321900" y="408525"/>
            <a:ext cx="850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thank U!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pic>
        <p:nvPicPr>
          <p:cNvPr id="363" name="Google Shape;363;p49" title="cursormatfia_col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488" y="4473274"/>
            <a:ext cx="370825" cy="37082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9"/>
          <p:cNvSpPr txBox="1"/>
          <p:nvPr/>
        </p:nvSpPr>
        <p:spPr>
          <a:xfrm>
            <a:off x="7404300" y="4443136"/>
            <a:ext cx="141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Cursor맛피아</a:t>
            </a:r>
            <a:endParaRPr sz="16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65" name="Google Shape;365;p49"/>
          <p:cNvSpPr txBox="1"/>
          <p:nvPr/>
        </p:nvSpPr>
        <p:spPr>
          <a:xfrm>
            <a:off x="5674025" y="4443136"/>
            <a:ext cx="1300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Choi Sumin</a:t>
            </a:r>
            <a:endParaRPr sz="16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366" name="Google Shape;366;p49"/>
          <p:cNvSpPr txBox="1"/>
          <p:nvPr/>
        </p:nvSpPr>
        <p:spPr>
          <a:xfrm>
            <a:off x="321900" y="2015075"/>
            <a:ext cx="8154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질문이 있다면 아래 이메일로 전달해주세요.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anum Gothic Coding"/>
              <a:buChar char="-"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lead@awesome.dev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