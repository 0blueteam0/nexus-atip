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2640"/>
                </a:solidFill>
                <a:latin typeface="Noto Sans CJK KR"/>
              </a:rPr>
              <a:t>AI SOC Agent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Noto Sans CJK KR"/>
              </a:rPr>
              <a:t>SOC 운영 보조 에이전트 플랫폼 상향 업데이트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474720" cy="960120"/>
          </a:xfrm>
          <a:prstGeom prst="roundRect">
            <a:avLst/>
          </a:prstGeom>
          <a:solidFill>
            <a:srgbClr val="E9F1F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무엇을 하는가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알림을 사건 단위로 구조화하고 증거·맥락·판단후보·초안·승인자료를 준비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331720"/>
            <a:ext cx="3474720" cy="96012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BF6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무엇을 하지 않는가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초기에는 자동 격리·계정잠금·방화벽 차단·공식 통보를 실행하지 않음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331720"/>
            <a:ext cx="3474720" cy="960120"/>
          </a:xfrm>
          <a:prstGeom prst="roundRect">
            <a:avLst/>
          </a:prstGeom>
          <a:solidFill>
            <a:srgbClr val="EBF5EB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어떻게 확장하는가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Read-only → Draft → Recommendation → Human-approved Workflow → 제한 자동화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86200"/>
            <a:ext cx="10881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112640"/>
                </a:solidFill>
                <a:latin typeface="Noto Sans CJK KR"/>
              </a:rPr>
              <a:t>핵심 메시지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505050"/>
                </a:solidFill>
                <a:latin typeface="Noto Sans CJK KR"/>
              </a:rPr>
              <a:t>분석가를 대체하는 자율 SOC가 아니라, 고객별 CSOP와 Evidence Package를 중심으로 SOC 업무를 단계적으로 Agent 보조화·에이전트화하는 운영 플랫폼입니다.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왜 상향이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Tier 1 조사 보조만으로는 제품 차별성과 운영 개선 폭이 제한됨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606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조사 품질 편차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분석가별 증거 수집·판단 근거·티켓 품질이 달라짐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1280160"/>
            <a:ext cx="2606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고객 맥락 유실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예외·승인·SLA·담당자 정보가 암묵지에 머무름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2606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운영 품질 부채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Noisy Rule, 로그 누락, 만료 예외가 누적됨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59" y="1280160"/>
            <a:ext cx="2606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감사 재현성 부족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어떤 증거와 정책으로 판단했는지 추적 어려움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0332720" cy="1143000"/>
          </a:xfrm>
          <a:prstGeom prst="roundRect">
            <a:avLst/>
          </a:prstGeom>
          <a:solidFill>
            <a:srgbClr val="E9F1F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112640"/>
                </a:solidFill>
                <a:latin typeface="Noto Sans CJK KR"/>
              </a:rPr>
              <a:t>상향 방향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505050"/>
                </a:solidFill>
                <a:latin typeface="Noto Sans CJK KR"/>
              </a:rPr>
              <a:t>알림 조사 보조 → 사건 맥락화 → 운영 품질 점검 → 승인 준비 → Agent 안전성 관리까지 확장. 단, 고위험 실행은 사람과 정책 게이트를 통과해야 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제품 정의 — SOC 운영 보조 에이전트 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조사·운영·승인·보증을 네 계층 Agent로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Investigation Agents</a:t>
            </a:r>
          </a:p>
          <a:p>
            <a:pPr>
              <a:spcBef>
                <a:spcPts val="200"/>
              </a:spcBef>
            </a:pPr>
            <a:r>
              <a:rPr sz="830">
                <a:solidFill>
                  <a:srgbClr val="505050"/>
                </a:solidFill>
                <a:latin typeface="Noto Sans CJK KR"/>
              </a:rPr>
              <a:t>사건 이해와 1차 조사 품질 표준화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097280"/>
            <a:ext cx="7772400" cy="9144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주요 Agent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505050"/>
                </a:solidFill>
                <a:latin typeface="Noto Sans CJK KR"/>
              </a:rPr>
              <a:t>Alert Intake, Correlation, Evidence Planner, Query &amp; Tool, Entity Context, Timeline Builder, Triage Candidate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SOC Operations Agents</a:t>
            </a:r>
          </a:p>
          <a:p>
            <a:pPr>
              <a:spcBef>
                <a:spcPts val="200"/>
              </a:spcBef>
            </a:pPr>
            <a:r>
              <a:rPr sz="830">
                <a:solidFill>
                  <a:srgbClr val="505050"/>
                </a:solidFill>
                <a:latin typeface="Noto Sans CJK KR"/>
              </a:rPr>
              <a:t>운영 품질·고객 맥락·관제 부채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331720"/>
            <a:ext cx="7772400" cy="9144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주요 Agent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505050"/>
                </a:solidFill>
                <a:latin typeface="Noto Sans CJK KR"/>
              </a:rPr>
              <a:t>CSOP Builder/Drift, Knowledge Debt, Log Health, Detection Health, SLA/Handover, Reporting QA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Response Preparation Agents</a:t>
            </a:r>
          </a:p>
          <a:p>
            <a:pPr>
              <a:spcBef>
                <a:spcPts val="200"/>
              </a:spcBef>
            </a:pPr>
            <a:r>
              <a:rPr sz="830">
                <a:solidFill>
                  <a:srgbClr val="505050"/>
                </a:solidFill>
                <a:latin typeface="Noto Sans CJK KR"/>
              </a:rPr>
              <a:t>조치 실행이 아니라 승인 전 자료와 영향도 정리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566160"/>
            <a:ext cx="7772400" cy="9144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주요 Agent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505050"/>
                </a:solidFill>
                <a:latin typeface="Noto Sans CJK KR"/>
              </a:rPr>
              <a:t>Approval Package, Playbook Recommendation, Dry-run/Impact, Manual Action Request, Post-action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00600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Agent Assurance Agents</a:t>
            </a:r>
          </a:p>
          <a:p>
            <a:pPr>
              <a:spcBef>
                <a:spcPts val="200"/>
              </a:spcBef>
            </a:pPr>
            <a:r>
              <a:rPr sz="830">
                <a:solidFill>
                  <a:srgbClr val="505050"/>
                </a:solidFill>
                <a:latin typeface="Noto Sans CJK KR"/>
              </a:rPr>
              <a:t>AI Agent 자체의 품질·보안·감사 가능성 통제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800600"/>
            <a:ext cx="7772400" cy="9144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주요 Agent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505050"/>
                </a:solidFill>
                <a:latin typeface="Noto Sans CJK KR"/>
              </a:rPr>
              <a:t>AgentOps Monitor, Evidence Quality, Prompt Injection Guard, Policy Violation Detector, Shadow/Replay Evaluator, Safety Controller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업무 시나리오 — VPN 로그인 이상 알림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누구나 이해할 수 있는 실제 처리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1143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112640"/>
                </a:solidFill>
                <a:latin typeface="Noto Sans CJK KR"/>
              </a:rPr>
              <a:t>1. Alert 수신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08760" y="1737360"/>
            <a:ext cx="137159" cy="0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664207" y="1417320"/>
            <a:ext cx="1143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112640"/>
                </a:solidFill>
                <a:latin typeface="Noto Sans CJK KR"/>
              </a:rPr>
              <a:t>2. CSOP 적용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07208" y="1737360"/>
            <a:ext cx="137160" cy="0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62656" y="1417320"/>
            <a:ext cx="1143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112640"/>
                </a:solidFill>
                <a:latin typeface="Noto Sans CJK KR"/>
              </a:rPr>
              <a:t>3. Evidence Plan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05656" y="1737360"/>
            <a:ext cx="137160" cy="0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61104" y="1417320"/>
            <a:ext cx="1143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112640"/>
                </a:solidFill>
                <a:latin typeface="Noto Sans CJK KR"/>
              </a:rPr>
              <a:t>4. Tool 조회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04104" y="1737360"/>
            <a:ext cx="137160" cy="0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59552" y="1417320"/>
            <a:ext cx="1143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112640"/>
                </a:solidFill>
                <a:latin typeface="Noto Sans CJK KR"/>
              </a:rPr>
              <a:t>5. Entity Context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02552" y="1737360"/>
            <a:ext cx="137160" cy="0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0" y="1417320"/>
            <a:ext cx="1143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112640"/>
                </a:solidFill>
                <a:latin typeface="Noto Sans CJK KR"/>
              </a:rPr>
              <a:t>6. Timeline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01000" y="1737360"/>
            <a:ext cx="137160" cy="0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56448" y="1417320"/>
            <a:ext cx="1143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112640"/>
                </a:solidFill>
                <a:latin typeface="Noto Sans CJK KR"/>
              </a:rPr>
              <a:t>7. Triage 후보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99448" y="1737360"/>
            <a:ext cx="137160" cy="0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54896" y="1417320"/>
            <a:ext cx="1143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112640"/>
                </a:solidFill>
                <a:latin typeface="Noto Sans CJK KR"/>
              </a:rPr>
              <a:t>8. Ticket/Approval Draft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597896" y="1737360"/>
            <a:ext cx="137160" cy="0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753344" y="1417320"/>
            <a:ext cx="1143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112640"/>
                </a:solidFill>
                <a:latin typeface="Noto Sans CJK KR"/>
              </a:rPr>
              <a:t>9. Human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743200"/>
            <a:ext cx="3291840" cy="1097280"/>
          </a:xfrm>
          <a:prstGeom prst="roundRect">
            <a:avLst/>
          </a:prstGeom>
          <a:solidFill>
            <a:srgbClr val="E9F1F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Agent가 준비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VPN/AD/CMDB 로그, 과거 로그인 패턴, Privileged 계정 여부, Missing Evidence, Reason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74320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분석가가 판단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증거 보완, L2 에스컬레이션, 티켓 승인, 고객 질의, 승인 요청 여부 결정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74320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6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시스템이 남김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Tool Call, CSOP Version, Policy Decision, Agent Trace, Override Reason, 감사 로그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00600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결론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505050"/>
                </a:solidFill>
                <a:latin typeface="Noto Sans CJK KR"/>
              </a:rPr>
              <a:t>이 시나리오에서 Agent는 “로그인 이상을 자동 처리”하지 않고, 사람이 검토 가능한 사건 패키지를 완성합니다.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추가 Agent 판단 — 무엇을 올릴 것인가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즉시 추가 / 조건부 추가 / 보류를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657600" cy="4389120"/>
          </a:xfrm>
          <a:prstGeom prst="roundRect">
            <a:avLst/>
          </a:prstGeom>
          <a:solidFill>
            <a:srgbClr val="EBF5EB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즉시 추가 권장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505050"/>
                </a:solidFill>
                <a:latin typeface="Noto Sans CJK KR"/>
              </a:rPr>
              <a:t>Evidence Quality
Entity Context
Timeline Builder
CSOP Drift / Knowledge Debt
AgentOps Safety
위험이 낮고, SIEM-only 환경에서도 가치가 있음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097280"/>
            <a:ext cx="3657600" cy="4389120"/>
          </a:xfrm>
          <a:prstGeom prst="roundRect">
            <a:avLst/>
          </a:prstGeom>
          <a:solidFill>
            <a:srgbClr val="FFFAE6"/>
          </a:solidFill>
          <a:ln w="12700">
            <a:solidFill>
              <a:srgbClr val="BF6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조건부 추가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505050"/>
                </a:solidFill>
                <a:latin typeface="Noto Sans CJK KR"/>
              </a:rPr>
              <a:t>Detection Health
Log Health
Threat Intel Correlation
Approval Package
Playbook Recommendation
Response Dry-run
데이터·권한·고객 승인 체계가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097280"/>
            <a:ext cx="3383280" cy="438912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초기 보류/금지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505050"/>
                </a:solidFill>
                <a:latin typeface="Noto Sans CJK KR"/>
              </a:rPr>
              <a:t>자동 격리
자동 계정잠금
자동 방화벽 차단
자동 탐지룰 비활성화
규제 신고 자동화
공식 고객 통보 자동발송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서비스 구조 — Agent Orchestrator + 통제 계층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자율 실행보다 추적 가능한 실행 계획과 권한 통제가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960120"/>
            <a:ext cx="97840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12640"/>
                </a:solidFill>
                <a:latin typeface="Noto Sans CJK KR"/>
              </a:rPr>
              <a:t>SOC Workbench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505050"/>
                </a:solidFill>
                <a:latin typeface="Noto Sans CJK KR"/>
              </a:rPr>
              <a:t>Case · Evidence · Review · Trace · AgentOps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563624"/>
            <a:ext cx="0" cy="173736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188720" y="1783080"/>
            <a:ext cx="9784080" cy="594360"/>
          </a:xfrm>
          <a:prstGeom prst="roundRect">
            <a:avLst/>
          </a:prstGeom>
          <a:solidFill>
            <a:srgbClr val="E9F1F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12640"/>
                </a:solidFill>
                <a:latin typeface="Noto Sans CJK KR"/>
              </a:rPr>
              <a:t>Agent Orchestrator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505050"/>
                </a:solidFill>
                <a:latin typeface="Noto Sans CJK KR"/>
              </a:rPr>
              <a:t>DAG/상태머신 · 재시도 · 중단조건 · Human Handoff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386584"/>
            <a:ext cx="0" cy="173736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88720" y="2606040"/>
            <a:ext cx="97840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12640"/>
                </a:solidFill>
                <a:latin typeface="Noto Sans CJK KR"/>
              </a:rPr>
              <a:t>Specialist Agents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505050"/>
                </a:solidFill>
                <a:latin typeface="Noto Sans CJK KR"/>
              </a:rPr>
              <a:t>Investigation · Operations · Response Prep · Assurance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3209544"/>
            <a:ext cx="0" cy="173736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88720" y="3429000"/>
            <a:ext cx="9784080" cy="594360"/>
          </a:xfrm>
          <a:prstGeom prst="roundRect">
            <a:avLst/>
          </a:prstGeom>
          <a:solidFill>
            <a:srgbClr val="E9F1F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12640"/>
                </a:solidFill>
                <a:latin typeface="Noto Sans CJK KR"/>
              </a:rPr>
              <a:t>Policy &amp; CSOP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505050"/>
                </a:solidFill>
                <a:latin typeface="Noto Sans CJK KR"/>
              </a:rPr>
              <a:t>CSOP Version · Runbook DSL · Action Catalog · Approval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4032504"/>
            <a:ext cx="0" cy="173736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88720" y="4251960"/>
            <a:ext cx="97840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12640"/>
                </a:solidFill>
                <a:latin typeface="Noto Sans CJK KR"/>
              </a:rPr>
              <a:t>Tool Gateway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505050"/>
                </a:solidFill>
                <a:latin typeface="Noto Sans CJK KR"/>
              </a:rPr>
              <a:t>SIEM · ITSM · CMDB · IAM · CTI · SOAR · EDR (Allowlist)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4855464"/>
            <a:ext cx="0" cy="173736"/>
          </a:xfrm>
          <a:prstGeom prst="line">
            <a:avLst/>
          </a:prstGeom>
          <a:ln w="1524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88720" y="5074920"/>
            <a:ext cx="9784080" cy="594360"/>
          </a:xfrm>
          <a:prstGeom prst="roundRect">
            <a:avLst/>
          </a:prstGeom>
          <a:solidFill>
            <a:srgbClr val="E9F1F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12640"/>
                </a:solidFill>
                <a:latin typeface="Noto Sans CJK KR"/>
              </a:rPr>
              <a:t>Evidence &amp; Audit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505050"/>
                </a:solidFill>
                <a:latin typeface="Noto Sans CJK KR"/>
              </a:rPr>
              <a:t>Evidence Package · Agent Trace · Timeline · Feedback ·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핵심 산출물 — Evidence Package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확정 결론이 아니라 검토 가능한 근거 패키지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Alert / Case / Tenant / CSOP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51560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Required · Collected · Missing · Failed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Entity Context · Timeline · Data Freshness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65960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Reason Code · Risk Score · Confidence Breakdown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Tool Call ID · Query Trace · Source Reliability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80360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Verdict Candidate · Recommended Next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Human Review Required · Automation Allowed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94760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Audit Trace ID · Policy/Runbook/Prompt 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515600" cy="59436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BF6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원칙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Evidence Package가 부족하면 자동 종결하지 않는다. Missing Evidence와 보류/에스컬레이션 후보를 명시한다.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필요 기술 스택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제품 기능을 올리려면 Agent Runtime보다 통제·평가·관찰 계층이 중요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Frontend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505050"/>
                </a:solidFill>
                <a:latin typeface="Noto Sans CJK KR"/>
              </a:rPr>
              <a:t>Workbench · Review · Trace · AgentOps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515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Backend API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505050"/>
                </a:solidFill>
                <a:latin typeface="Noto Sans CJK KR"/>
              </a:rPr>
              <a:t>Case · Evidence · Policy · Agent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0515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Agent Runtime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505050"/>
                </a:solidFill>
                <a:latin typeface="Noto Sans CJK KR"/>
              </a:rPr>
              <a:t>DAG/State Machine ·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LLM Gateway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505050"/>
                </a:solidFill>
                <a:latin typeface="Noto Sans CJK KR"/>
              </a:rPr>
              <a:t>모델 라우팅 · 출력 스키마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688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Policy Engine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505050"/>
                </a:solidFill>
                <a:latin typeface="Noto Sans CJK KR"/>
              </a:rPr>
              <a:t>OPA/Cedar · CSOP · Action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4688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Tool Gateway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505050"/>
                </a:solidFill>
                <a:latin typeface="Noto Sans CJK KR"/>
              </a:rPr>
              <a:t>Connector · Allowlist · Credential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8620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Data/RAG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505050"/>
                </a:solidFill>
                <a:latin typeface="Noto Sans CJK KR"/>
              </a:rPr>
              <a:t>PostgreSQL · Object · Vector ·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8620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Observability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505050"/>
                </a:solidFill>
                <a:latin typeface="Noto Sans CJK KR"/>
              </a:rPr>
              <a:t>Metrics · Audit · Cost · Quarantine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88620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Evaluation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505050"/>
                </a:solidFill>
                <a:latin typeface="Noto Sans CJK KR"/>
              </a:rPr>
              <a:t>Replay · Shadow · Red Team · Regression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상품 패키지 — 단계적으로 판매 가능한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단일 기능이 아니라 고객 성숙도별 패키지로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Foundation Pack</a:t>
            </a:r>
          </a:p>
          <a:p>
            <a:pPr>
              <a:spcBef>
                <a:spcPts val="200"/>
              </a:spcBef>
            </a:pPr>
            <a:r>
              <a:rPr sz="830">
                <a:solidFill>
                  <a:srgbClr val="505050"/>
                </a:solidFill>
                <a:latin typeface="Noto Sans CJK KR"/>
              </a:rPr>
              <a:t>Capability Readiness
CSOP Builder
Knowledge Debt
[장비 독립형]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79" y="132588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Investigation Pack</a:t>
            </a:r>
          </a:p>
          <a:p>
            <a:pPr>
              <a:spcBef>
                <a:spcPts val="200"/>
              </a:spcBef>
            </a:pPr>
            <a:r>
              <a:rPr sz="830">
                <a:solidFill>
                  <a:srgbClr val="505050"/>
                </a:solidFill>
                <a:latin typeface="Noto Sans CJK KR"/>
              </a:rPr>
              <a:t>SIEM-only Evidence
Entity Context
Timeline
Triage Candidate
[1차 PoC]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2588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Operations Quality Pack</a:t>
            </a:r>
          </a:p>
          <a:p>
            <a:pPr>
              <a:spcBef>
                <a:spcPts val="200"/>
              </a:spcBef>
            </a:pPr>
            <a:r>
              <a:rPr sz="830">
                <a:solidFill>
                  <a:srgbClr val="505050"/>
                </a:solidFill>
                <a:latin typeface="Noto Sans CJK KR"/>
              </a:rPr>
              <a:t>Log Health
Detection Health
SLA/Handover
Reporting QA
[운영 개선]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19" y="132588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Supervised Response Pack</a:t>
            </a:r>
          </a:p>
          <a:p>
            <a:pPr>
              <a:spcBef>
                <a:spcPts val="200"/>
              </a:spcBef>
            </a:pPr>
            <a:r>
              <a:rPr sz="830">
                <a:solidFill>
                  <a:srgbClr val="505050"/>
                </a:solidFill>
                <a:latin typeface="Noto Sans CJK KR"/>
              </a:rPr>
              <a:t>Approval Package
Playbook Recommendation
Dry-run / Impact
[조건부 확장]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32588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AI Assurance Pack</a:t>
            </a:r>
          </a:p>
          <a:p>
            <a:pPr>
              <a:spcBef>
                <a:spcPts val="200"/>
              </a:spcBef>
            </a:pPr>
            <a:r>
              <a:rPr sz="830">
                <a:solidFill>
                  <a:srgbClr val="505050"/>
                </a:solidFill>
                <a:latin typeface="Noto Sans CJK KR"/>
              </a:rPr>
              <a:t>AgentOps
Shadow/Replay
Prompt Injection Test
Audit Replay
[신뢰·감사]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698480" cy="594360"/>
          </a:xfrm>
          <a:prstGeom prst="roundRect">
            <a:avLst/>
          </a:prstGeom>
          <a:solidFill>
            <a:srgbClr val="E9F1F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권장 진입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Foundation + Investigation Pack으로 시작하고, 고객 환경에 따라 Operations Quality와 Supervised Response를 확장합니다.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로드맵 — 보수적이지만 목표는 Agentization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검증된 범위에서만 자동화 수준을 올림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6916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Phase 0
Discovery / Readiness</a:t>
            </a:r>
          </a:p>
          <a:p>
            <a:pPr>
              <a:spcBef>
                <a:spcPts val="200"/>
              </a:spcBef>
            </a:pPr>
            <a:r>
              <a:rPr sz="740">
                <a:solidFill>
                  <a:srgbClr val="505050"/>
                </a:solidFill>
                <a:latin typeface="Noto Sans CJK KR"/>
              </a:rPr>
              <a:t>Capability Inventory, Data Readiness, CSOP 최소항목, PoC 후보 선정
자동화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188720"/>
            <a:ext cx="16916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Phase 1
Assistive MVP</a:t>
            </a:r>
          </a:p>
          <a:p>
            <a:pPr>
              <a:spcBef>
                <a:spcPts val="200"/>
              </a:spcBef>
            </a:pPr>
            <a:r>
              <a:rPr sz="740">
                <a:solidFill>
                  <a:srgbClr val="505050"/>
                </a:solidFill>
                <a:latin typeface="Noto Sans CJK KR"/>
              </a:rPr>
              <a:t>SIEM-only Evidence Package, 티켓/보고 초안, Human Review, Agent Trace
Read-only /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16916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Phase 2
Context-aware Investigation</a:t>
            </a:r>
          </a:p>
          <a:p>
            <a:pPr>
              <a:spcBef>
                <a:spcPts val="200"/>
              </a:spcBef>
            </a:pPr>
            <a:r>
              <a:rPr sz="740">
                <a:solidFill>
                  <a:srgbClr val="505050"/>
                </a:solidFill>
                <a:latin typeface="Noto Sans CJK KR"/>
              </a:rPr>
              <a:t>Entity Context, Timeline, CSOP 예외·SLA·승인정책 반영
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16916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Phase 3
Supervised Workflow</a:t>
            </a:r>
          </a:p>
          <a:p>
            <a:pPr>
              <a:spcBef>
                <a:spcPts val="200"/>
              </a:spcBef>
            </a:pPr>
            <a:r>
              <a:rPr sz="740">
                <a:solidFill>
                  <a:srgbClr val="505050"/>
                </a:solidFill>
                <a:latin typeface="Noto Sans CJK KR"/>
              </a:rPr>
              <a:t>Approval Package, SOAR Dry-run, 영향도 분석, 고객 승인 흐름
Human-approved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16916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Phase 4
Bounded Low-risk Automation</a:t>
            </a:r>
          </a:p>
          <a:p>
            <a:pPr>
              <a:spcBef>
                <a:spcPts val="200"/>
              </a:spcBef>
            </a:pPr>
            <a:r>
              <a:rPr sz="740">
                <a:solidFill>
                  <a:srgbClr val="505050"/>
                </a:solidFill>
                <a:latin typeface="Noto Sans CJK KR"/>
              </a:rPr>
              <a:t>사전승인 저위험·가역 조치만 제한 적용, Holdout, Kill Switch
조건부 자동화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188720"/>
            <a:ext cx="16916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112640"/>
                </a:solidFill>
                <a:latin typeface="Noto Sans CJK KR"/>
              </a:rPr>
              <a:t>Phase 5
AI-Augmented SOC Platform</a:t>
            </a:r>
          </a:p>
          <a:p>
            <a:pPr>
              <a:spcBef>
                <a:spcPts val="200"/>
              </a:spcBef>
            </a:pPr>
            <a:r>
              <a:rPr sz="740">
                <a:solidFill>
                  <a:srgbClr val="505050"/>
                </a:solidFill>
                <a:latin typeface="Noto Sans CJK KR"/>
              </a:rPr>
              <a:t>Agent Package, AgentOps, Assurance, Detection Quality, 고객 포털
운영 플랫폼화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515600" cy="59436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BF6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중요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Phase 4는 목표이지 시작점이 아닙니다. Phase 1~3의 Evidence, Human Review, Shadow/Replay가 통과되어야 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보안·거버넌스 — Human-in-the-loop만으로는 부족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Policy Gate, Tool Gate, Evidence Gate, Audit Gate를 함께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Human Gate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고위험 조치·고객 통보·룰 변경은 승인 필수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1430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Policy Gate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CSOP·Action Catalog·금지행위 기준으로 허용/차단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1430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Tool Gate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Agent별 Tool Allowlist와 Read-only 기본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Evidence Gate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필수 증거 누락 시 자동 종결 금지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01752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Audit Gate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AgentRun·ToolCall·Policy Version 재현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1752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Safety Gate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Prompt Injection 방어·Kill Switch·Fail Closed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90일 PoC — 무엇을 검증할 것인가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자동 대응이 아니라 운영 산출물의 품질과 사용성을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Day 1~30
Discovery &amp; Setup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Capability Inventory
CSOP 최소항목
권한·연동·평가셋
보안심사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09728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Day 31~60
Shadow Mode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Evidence Package
Entity Context
Timeline
Ticket Draft
Human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9728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6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12640"/>
                </a:solidFill>
                <a:latin typeface="Noto Sans CJK KR"/>
              </a:rPr>
              <a:t>Day 61~90
Review &amp; Decision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Evidence 품질
분석가 사용성
감사 재현성
확장/중단 판단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83480"/>
            <a:ext cx="10515600" cy="73152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12640"/>
                </a:solidFill>
                <a:latin typeface="Noto Sans CJK KR"/>
              </a:rPr>
              <a:t>No-Go 조건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505050"/>
                </a:solidFill>
                <a:latin typeface="Noto Sans CJK KR"/>
              </a:rPr>
              <a:t>데이터 접근 실패, 테넌트 격리 실패, Prompt Injection 방어 실패, Agent Trace 부재, 분석가 사용성 미달, 유지보수 비용 과다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2640"/>
                </a:solidFill>
                <a:latin typeface="Noto Sans CJK KR"/>
              </a:rPr>
              <a:t>종합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217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05050"/>
                </a:solidFill>
                <a:latin typeface="Noto Sans CJK KR"/>
              </a:rPr>
              <a:t>기능 상향은 타당하나, 단계와 통제가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75B6"/>
                </a:solidFill>
                <a:latin typeface="Noto Sans CJK KR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74720" cy="3657600"/>
          </a:xfrm>
          <a:prstGeom prst="roundRect">
            <a:avLst/>
          </a:prstGeom>
          <a:solidFill>
            <a:srgbClr val="EBF5EB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112640"/>
                </a:solidFill>
                <a:latin typeface="Noto Sans CJK KR"/>
              </a:rPr>
              <a:t>판단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505050"/>
                </a:solidFill>
                <a:latin typeface="Noto Sans CJK KR"/>
              </a:rPr>
              <a:t>Conditional Go
SOC Agent Service는 “Tier 1 조사 보조”에서 “SOC 운영 보조 Agent Platform”으로 상향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097280"/>
            <a:ext cx="3474720" cy="3657600"/>
          </a:xfrm>
          <a:prstGeom prst="roundRect">
            <a:avLst/>
          </a:prstGeom>
          <a:solidFill>
            <a:srgbClr val="E9F1F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112640"/>
                </a:solidFill>
                <a:latin typeface="Noto Sans CJK KR"/>
              </a:rPr>
              <a:t>1차 구현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505050"/>
                </a:solidFill>
                <a:latin typeface="Noto Sans CJK KR"/>
              </a:rPr>
              <a:t>Investigation Pack
AgentOps Safety
Evidence Quality
Entity Context
Timeline Builder
Human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097280"/>
            <a:ext cx="3108960" cy="365760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112640"/>
                </a:solidFill>
                <a:latin typeface="Noto Sans CJK KR"/>
              </a:rPr>
              <a:t>초기 제외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505050"/>
                </a:solidFill>
                <a:latin typeface="Noto Sans CJK KR"/>
              </a:rPr>
              <a:t>자동 격리
자동 계정잠금
자동 방화벽 차단
자동 공식 통보
규제 신고 자동화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66360"/>
            <a:ext cx="105156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12640"/>
                </a:solidFill>
                <a:latin typeface="Noto Sans CJK KR"/>
              </a:rPr>
              <a:t>Next Step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05050"/>
                </a:solidFill>
                <a:latin typeface="Noto Sans CJK KR"/>
              </a:rPr>
              <a:t>업데이트 산출물 기준으로 90일 PoC 고객을 선정하고, SIEM-only Investigation + Agent Assurance부터 검증합니다.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9F1F9"/>
          </a:solidFill>
          <a:ln>
            <a:solidFill>
              <a:srgbClr val="E9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505050"/>
                </a:solidFill>
                <a:latin typeface="Noto Sans CJK KR"/>
              </a:rPr>
              <a:t>AI SOC Agent Service · Conservative Agentization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