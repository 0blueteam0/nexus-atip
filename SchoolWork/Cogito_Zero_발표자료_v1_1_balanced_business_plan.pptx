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265176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0F766E"/>
                </a:solidFill>
                <a:latin typeface="맑은 고딕"/>
              </a:rPr>
              <a:t>BALANCED BUSINESS PLAN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057400"/>
            <a:ext cx="5669280" cy="7132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맑은 고딕"/>
              </a:rPr>
              <a:t>Cogito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80360"/>
            <a:ext cx="60350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맑은 고딕"/>
              </a:rPr>
              <a:t>AI 에이전트와 도구/MCP/API 사이의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FFFFFF"/>
                </a:solidFill>
                <a:latin typeface="맑은 고딕"/>
              </a:rPr>
              <a:t>제로트러스트 실행 통제 게이트웨이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49808" y="5212080"/>
            <a:ext cx="3364992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5422392"/>
            <a:ext cx="475488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맑은 고딕"/>
              </a:rPr>
              <a:t>Governable · Auditable · Operationally 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874519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011679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6771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실행 사각지대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8775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에이전트가 권한 안에서 고위험 Tool Call을 실행할 수 있습니다.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56432" y="1874519"/>
            <a:ext cx="214884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56432" y="2011679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26771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실행 직전 통제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58775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정책 평가, 승인, 드라이런, 차단, 감사를 하나의 흐름으로 연결합니다.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99632" y="1874519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99632" y="2011679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26771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규제 산업 우선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58775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금융, SOC, 공공, 대기업 DX처럼 증적 요구가 큰 곳부터 시작합니다.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42832" y="1874519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42832" y="2011679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226771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PoC 후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58775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구독형 플랫폼과 도입 전문서비스로 진입해 전사 표준으로 확장합니다.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30368"/>
            <a:ext cx="886968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200" b="1">
                <a:solidFill>
                  <a:srgbClr val="1F2428"/>
                </a:solidFill>
                <a:latin typeface="맑은 고딕"/>
              </a:rPr>
              <a:t>자동화를 막지 않고, 위험한 실행만 통제합니다.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MARKET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AI 도입의 병목은 실행 신뢰성입니다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28800"/>
            <a:ext cx="384048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965960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21992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AI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384048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답변 생성, 요약, 초안 작성 중심. 위험은 주로 모델 입출력에 머물렀습니다.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828800"/>
            <a:ext cx="384048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1965960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21992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Decision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42032"/>
            <a:ext cx="384048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에이전트가 도구를 호출하고 기업 시스템을 실제로 변경합니다.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2743200"/>
            <a:ext cx="1234440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074920"/>
            <a:ext cx="89611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000" b="1">
                <a:solidFill>
                  <a:srgbClr val="1F2428"/>
                </a:solidFill>
                <a:latin typeface="맑은 고딕"/>
              </a:rPr>
              <a:t>질문은 “어떤 모델인가”에서 “이 실행을 지금 허용해도 되는가”로 이동합니다.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Agent Execution Security의 등장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74519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2011679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DRIVER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Automation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기업은 에이전트 자동화를 업무 시스템에 연결하려 합니다.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1874519"/>
            <a:ext cx="274320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97680" y="2011679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DRIVER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6771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8775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실행 근거, 승인 이력, 결과 증적이 필요합니다.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1874519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0" y="2011679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DRIVER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6771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Regulation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58775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AI 거버넌스와 개인정보 보호 요구가 강화됩니다.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800" b="1">
                <a:solidFill>
                  <a:srgbClr val="1F2428"/>
                </a:solidFill>
                <a:latin typeface="맑은 고딕"/>
              </a:rPr>
              <a:t>Cogito Zero의 기회는 AI 도입 자체가 아니라, AI 실행을 통제하는 운영 계층입니다.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Tool Call의 블랙박스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맑은 고딕"/>
              </a:rPr>
              <a:t>과잉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3840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6E7781"/>
                </a:solidFill>
                <a:latin typeface="맑은 고딕"/>
              </a:rPr>
              <a:t>권한은 있지만 맥락상 위험한 실행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724912"/>
            <a:ext cx="384048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0" y="182880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맑은 고딕"/>
              </a:rPr>
              <a:t>민감정보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212848"/>
            <a:ext cx="3840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6E7781"/>
                </a:solidFill>
                <a:latin typeface="맑은 고딕"/>
              </a:rPr>
              <a:t>PII·영업비밀의 외부 전송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0" y="2724912"/>
            <a:ext cx="384048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315468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맑은 고딕"/>
              </a:rPr>
              <a:t>오염된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38728"/>
            <a:ext cx="3840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6E7781"/>
                </a:solidFill>
                <a:latin typeface="맑은 고딕"/>
              </a:rPr>
              <a:t>MCP 스키마와 실제 동작 불일치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4050791"/>
            <a:ext cx="384048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0" y="315468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맑은 고딕"/>
              </a:rPr>
              <a:t>사후 로그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538728"/>
            <a:ext cx="3840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6E7781"/>
                </a:solidFill>
                <a:latin typeface="맑은 고딕"/>
              </a:rPr>
              <a:t>실행 전 승인·조건부 통제 부족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0" y="4050791"/>
            <a:ext cx="384048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5166360"/>
            <a:ext cx="822960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  <a:latin typeface="맑은 고딕"/>
              </a:rPr>
              <a:t>로그만 남기는 것으로는 부족합니다. 실행되기 전에 판단해야 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Zero Trust Gateway for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82880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800" b="1">
                <a:solidFill>
                  <a:srgbClr val="1F2428"/>
                </a:solidFill>
                <a:latin typeface="맑은 고딕"/>
              </a:rPr>
              <a:t>AI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2029968"/>
            <a:ext cx="3154680" cy="960120"/>
          </a:xfrm>
          <a:prstGeom prst="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2331720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Cogito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286000"/>
            <a:ext cx="201168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800" b="1">
                <a:solidFill>
                  <a:srgbClr val="1F2428"/>
                </a:solidFill>
                <a:latin typeface="맑은 고딕"/>
              </a:rPr>
              <a:t>Tools / MCP /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514600"/>
            <a:ext cx="1325880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06640" y="2514600"/>
            <a:ext cx="1554480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4069080"/>
            <a:ext cx="96926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F2428"/>
                </a:solidFill>
                <a:latin typeface="맑은 고딕"/>
              </a:rPr>
              <a:t>에이전트 신원, 도구 위험도, 데이터 민감도, 시간, 목적, 과거 이력을 함께 평가합니다.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작동 방식: Context → Policy → Decision →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011680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148840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2491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누가, 어떤 에이전트가, 어떤 도구로 무엇을 하려는가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2011680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74720" y="2148840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0487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2491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조직 정책과 데이터 민감도, 도구 신뢰도를 평가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0" y="2011680"/>
            <a:ext cx="214884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2148840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0487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2491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Allow, Conditional, Approval, Dry-run, Block 중 결정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0" y="2011680"/>
            <a:ext cx="214884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61120" y="2148840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04872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724912"/>
            <a:ext cx="214884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판단 근거와 승인, 실행 결과를 타임라인으로 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230368"/>
            <a:ext cx="804672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800" b="1">
                <a:solidFill>
                  <a:srgbClr val="1F2428"/>
                </a:solidFill>
                <a:latin typeface="맑은 고딕"/>
              </a:rPr>
              <a:t>복잡한 보안 판단을 하나의 실행 흐름으로 단순화합니다.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다섯 가지 결정으로 운영을 멈추지 않습니다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1F2428"/>
                </a:solidFill>
                <a:latin typeface="맑은 고딕"/>
              </a:rPr>
              <a:t>Allow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6E7781"/>
                </a:solidFill>
                <a:latin typeface="맑은 고딕"/>
              </a:rPr>
              <a:t>즉시 허용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401568"/>
            <a:ext cx="160020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44368" y="20574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48716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1F2428"/>
                </a:solidFill>
                <a:latin typeface="맑은 고딕"/>
              </a:rPr>
              <a:t>Conditional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852928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6E7781"/>
                </a:solidFill>
                <a:latin typeface="맑은 고딕"/>
              </a:rPr>
              <a:t>조건부 실행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44368" y="3401568"/>
            <a:ext cx="160020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57216" y="20574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48716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1F2428"/>
                </a:solidFill>
                <a:latin typeface="맑은 고딕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852928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6E7781"/>
                </a:solidFill>
                <a:latin typeface="맑은 고딕"/>
              </a:rPr>
              <a:t>승인 요청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57216" y="3401568"/>
            <a:ext cx="160020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70064" y="20574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248716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1F2428"/>
                </a:solidFill>
                <a:latin typeface="맑은 고딕"/>
              </a:rPr>
              <a:t>Dry-run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2852928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6E7781"/>
                </a:solidFill>
                <a:latin typeface="맑은 고딕"/>
              </a:rPr>
              <a:t>영향 확인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70064" y="3401568"/>
            <a:ext cx="160020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82912" y="2057400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맑은 고딕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2487168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1F2428"/>
                </a:solidFill>
                <a:latin typeface="맑은 고딕"/>
              </a:rPr>
              <a:t>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852928"/>
            <a:ext cx="16459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6E7781"/>
                </a:solidFill>
                <a:latin typeface="맑은 고딕"/>
              </a:rPr>
              <a:t>차단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82912" y="3401568"/>
            <a:ext cx="1600200" cy="0"/>
          </a:xfrm>
          <a:prstGeom prst="line">
            <a:avLst/>
          </a:prstGeom>
          <a:ln w="10160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5102352"/>
            <a:ext cx="923544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900" b="1">
                <a:solidFill>
                  <a:srgbClr val="1F2428"/>
                </a:solidFill>
                <a:latin typeface="맑은 고딕"/>
              </a:rPr>
              <a:t>목표는 모든 실행을 막는 것이 아니라, 위험도에 맞는 실행 방식을 선택하는 것입니다.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대표 시나리오 3가지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1874519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011679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AI-SOC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admin 계정 비활성화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승인 전환 → 위협 대응과 업무 연속성 균형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1874519"/>
            <a:ext cx="278892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43400" y="2011679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PII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67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고객정보 외부 전송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8775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마스킹·승인 → 개인정보 보호와 증적 확보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1874519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09560" y="2011679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MCP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267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스키마 불일치 도구 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58775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실행 차단 → Tool Poisoning 실행 전 차단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0368"/>
            <a:ext cx="859536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800" b="1">
                <a:solidFill>
                  <a:srgbClr val="1F2428"/>
                </a:solidFill>
                <a:latin typeface="맑은 고딕"/>
              </a:rPr>
              <a:t>상황 → 판단 → 결과가 모두 감사 가능한 형태로 남습니다.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거버넌스와 컴플라이언스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83080"/>
            <a:ext cx="274320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920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9631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조직 정책을 실행 시스템 안에서 적용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178308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97680" y="1920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7627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9631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고위험 행동을 사람 승인으로 전환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178308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0" y="1920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7627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49631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호출·판단·결과를 시간순으로 기록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320040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333756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9359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1363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누가·왜·무엇을 실행했는지 설명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97680" y="320040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97680" y="333756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59359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Exception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91363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예외와 dry-run으로 운영 연속성 보장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89611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맑은 고딕"/>
              </a:rPr>
              <a:t>AI 사용을 막는 것이 아니라, 감사 가능한 방식으로 확장하게 만듭니다.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기존 보안의 틈을 메우는 계층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4983480"/>
            <a:ext cx="8138160" cy="0"/>
          </a:xfrm>
          <a:prstGeom prst="line">
            <a:avLst/>
          </a:prstGeom>
          <a:ln w="12700">
            <a:solidFill>
              <a:srgbClr val="6E7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828800" y="1508760"/>
            <a:ext cx="0" cy="3474720"/>
          </a:xfrm>
          <a:prstGeom prst="line">
            <a:avLst/>
          </a:prstGeom>
          <a:ln w="12700">
            <a:solidFill>
              <a:srgbClr val="6E7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34440" y="1234440"/>
            <a:ext cx="1097280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6E7781"/>
                </a:solidFill>
                <a:latin typeface="맑은 고딕"/>
              </a:rPr>
              <a:t>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166360"/>
            <a:ext cx="1554480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6E7781"/>
                </a:solidFill>
                <a:latin typeface="맑은 고딕"/>
              </a:rPr>
              <a:t>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29768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0">
                <a:solidFill>
                  <a:srgbClr val="6E7781"/>
                </a:solidFill>
                <a:latin typeface="맑은 고딕"/>
              </a:rPr>
              <a:t>IAM/PAM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65760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0">
                <a:solidFill>
                  <a:srgbClr val="6E7781"/>
                </a:solidFill>
                <a:latin typeface="맑은 고딕"/>
              </a:rPr>
              <a:t>DLP/CASB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97180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0">
                <a:solidFill>
                  <a:srgbClr val="6E7781"/>
                </a:solidFill>
                <a:latin typeface="맑은 고딕"/>
              </a:rPr>
              <a:t>LLM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0">
                <a:solidFill>
                  <a:srgbClr val="6E7781"/>
                </a:solidFill>
                <a:latin typeface="맑은 고딕"/>
              </a:rPr>
              <a:t>SIEM/SOAR</a:t>
            </a:r>
          </a:p>
        </p:txBody>
      </p:sp>
      <p:sp>
        <p:nvSpPr>
          <p:cNvPr id="14" name="Oval 13"/>
          <p:cNvSpPr/>
          <p:nvPr/>
        </p:nvSpPr>
        <p:spPr>
          <a:xfrm>
            <a:off x="7909560" y="1874519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47088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맑은 고딕"/>
              </a:rPr>
              <a:t>Cogito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86868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428"/>
                </a:solidFill>
                <a:latin typeface="맑은 고딕"/>
              </a:rPr>
              <a:t>모델 답변 이후, 실제 실행 직전에 정책 판단을 수행합니다.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Business Model &amp; 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1920240"/>
            <a:ext cx="278892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05740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1343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Platform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에이전트 수, 보호 도구 수, Tool Call 규모, 감사 보존 기간 기반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1920240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43400" y="205740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1343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PoC &amp;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3347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정책 설계, 보안 도구 연동, 운영 교육으로 초기 도입 장벽 완화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1920240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09560" y="205740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GTM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31343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Land and 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63347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금융·SOC·공공의 고위험 워크플로우에서 시작해 전사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93268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428"/>
                </a:solidFill>
                <a:latin typeface="맑은 고딕"/>
              </a:rPr>
              <a:t>개발자에게는 쉽게 붙는 게이트웨이, 보안팀에게는 감사 가능한 통제 계층이 되어야 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19" b="1">
                <a:solidFill>
                  <a:srgbClr val="0F766E"/>
                </a:solidFill>
                <a:latin typeface="맑은 고딕"/>
              </a:rPr>
              <a:t>FINANCIAL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85216"/>
            <a:ext cx="859536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550" b="1">
                <a:solidFill>
                  <a:srgbClr val="1F2428"/>
                </a:solidFill>
                <a:latin typeface="맑은 고딕"/>
              </a:rPr>
              <a:t>재무 논리와 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6E7781"/>
                </a:solidFill>
                <a:latin typeface="맑은 고딕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910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6E7781"/>
                </a:solidFill>
                <a:latin typeface="맑은 고딕"/>
              </a:rPr>
              <a:t>Cogito Zero · Balanced Business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2880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96596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2199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제한된 워크플로우에서 실행 통제 효과 검증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1828800"/>
            <a:ext cx="274320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97680" y="196596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2199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4203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유료 전환 후 에이전트·도구·정책 범위 확대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1828800"/>
            <a:ext cx="274320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0" y="1965960"/>
            <a:ext cx="2743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21992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542032"/>
            <a:ext cx="27432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컴플라이언스 모듈과 장기 감사 보존으로 ARPA 상승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80467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428"/>
                </a:solidFill>
                <a:latin typeface="맑은 고딕"/>
              </a:rPr>
              <a:t>핵심 지표: protected tool calls · active agents · approval events · blocked risky actions · audit retention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89611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맑은 고딕"/>
              </a:rPr>
              <a:t>초기에는 과장된 매출보다 PoC 성공률과 유료 전환율을 검증합니다.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192024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0F766E"/>
                </a:solidFill>
                <a:latin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863840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PoC에서 전사 실행 표준으로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2057400"/>
            <a:ext cx="278892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219456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7063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Gateway, Registry, Policy Engine, Audit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맑은 고딕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7432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30">
                <a:solidFill>
                  <a:srgbClr val="FFFFFF"/>
                </a:solidFill>
                <a:latin typeface="맑은 고딕"/>
              </a:rPr>
              <a:t>Gateway, Registry, Policy Engine, Audit Timeline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2057400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43400" y="219456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5059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7063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Approval, Data Guard, Dashboard, policy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194560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맑은 고딕"/>
              </a:rP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48716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34640"/>
            <a:ext cx="27432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30">
                <a:solidFill>
                  <a:srgbClr val="FFFFFF"/>
                </a:solidFill>
                <a:latin typeface="맑은 고딕"/>
              </a:rPr>
              <a:t>Approval, Data Guard, Dashboard, policy templates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9560" y="2057400"/>
            <a:ext cx="2788920" cy="0"/>
          </a:xfrm>
          <a:prstGeom prst="line">
            <a:avLst/>
          </a:prstGeom>
          <a:ln w="8255">
            <a:solidFill>
              <a:srgbClr val="D8D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09560" y="2194560"/>
            <a:ext cx="27889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80" b="1">
                <a:solidFill>
                  <a:srgbClr val="6E7781"/>
                </a:solidFill>
                <a:latin typeface="맑은 고딕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450592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80" b="1">
                <a:solidFill>
                  <a:srgbClr val="1F2428"/>
                </a:solidFill>
                <a:latin typeface="맑은 고딕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770632"/>
            <a:ext cx="27889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40">
                <a:solidFill>
                  <a:srgbClr val="6E7781"/>
                </a:solidFill>
                <a:latin typeface="맑은 고딕"/>
              </a:rPr>
              <a:t>Enterprise controls, integrations, decision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194560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맑은 고딕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48716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834640"/>
            <a:ext cx="27432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930">
                <a:solidFill>
                  <a:srgbClr val="FFFFFF"/>
                </a:solidFill>
                <a:latin typeface="맑은 고딕"/>
              </a:rPr>
              <a:t>Enterprise controls, integrations, decision intelligence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4892040"/>
            <a:ext cx="3611880" cy="0"/>
          </a:xfrm>
          <a:prstGeom prst="line">
            <a:avLst/>
          </a:prstGeom>
          <a:ln w="1397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5138928"/>
            <a:ext cx="896112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Cogito Zero makes AI agent execution governable, auditable, and operationally safe.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291072"/>
            <a:ext cx="77724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